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66" r:id="rId3"/>
    <p:sldId id="257" r:id="rId4"/>
    <p:sldId id="258" r:id="rId5"/>
    <p:sldId id="259" r:id="rId6"/>
    <p:sldId id="260" r:id="rId7"/>
    <p:sldId id="261" r:id="rId8"/>
    <p:sldId id="263" r:id="rId9"/>
    <p:sldId id="264" r:id="rId10"/>
    <p:sldId id="265" r:id="rId11"/>
  </p:sldIdLst>
  <p:sldSz cx="12192000" cy="6858000"/>
  <p:notesSz cx="6858000" cy="12192000"/>
  <p:embeddedFontLst>
    <p:embeddedFont>
      <p:font typeface="Crimson Pro Bold" pitchFamily="2" charset="77"/>
      <p:regular r:id="rId13"/>
      <p:bold r:id="rId14"/>
    </p:embeddedFont>
    <p:embeddedFont>
      <p:font typeface="Open Sans" panose="020B0606030504020204" pitchFamily="34" charset="0"/>
      <p:regular r:id="rId15"/>
      <p:bold r:id="rId16"/>
      <p:italic r:id="rId17"/>
      <p:boldItalic r:id="rId18"/>
    </p:embeddedFont>
    <p:embeddedFont>
      <p:font typeface="Open Sans Bold" pitchFamily="2"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775"/>
  </p:normalViewPr>
  <p:slideViewPr>
    <p:cSldViewPr snapToGrid="0" snapToObjects="1">
      <p:cViewPr>
        <p:scale>
          <a:sx n="116" d="100"/>
          <a:sy n="116" d="100"/>
        </p:scale>
        <p:origin x="44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2327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bonjour</a:t>
            </a:r>
            <a:r>
              <a:rPr lang="fr-FR" dirty="0"/>
              <a:t>, je m'appelle Théo Magnin, je suis en BTS CIEL. Avec mon binôme Maxence, nous travaillons sur un projet de centralisation de la documentation technique du banc de test KNX. Je vais vous présenter aujourd'hui le cahier des charges pour la Revue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54028-4482-1F16-B44F-71FF0D27F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B4447-26A6-31E8-84B3-28812B89C6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EB96FC-D5F7-D012-B0B6-1A7FE44C34C1}"/>
              </a:ext>
            </a:extLst>
          </p:cNvPr>
          <p:cNvSpPr>
            <a:spLocks noGrp="1"/>
          </p:cNvSpPr>
          <p:nvPr>
            <p:ph type="body" idx="1"/>
          </p:nvPr>
        </p:nvSpPr>
        <p:spPr/>
        <p:txBody>
          <a:bodyPr/>
          <a:lstStyle/>
          <a:p>
            <a:r>
              <a:rPr lang="fr-FR" dirty="0"/>
              <a:t>Dans un premier temps, je reviendrai sur le besoin à l'origine du projet : la documentation des modules</a:t>
            </a:r>
          </a:p>
          <a:p>
            <a:endParaRPr lang="fr-FR" dirty="0"/>
          </a:p>
          <a:p>
            <a:r>
              <a:rPr lang="fr-FR" b="1" dirty="0"/>
              <a:t>Objectif Projet</a:t>
            </a:r>
            <a:r>
              <a:rPr lang="fr-FR" dirty="0"/>
              <a:t> : Ensuite, les objectifs du projet : ce que la solution doit permettre, pour les enseignants comme pour les apprentis.</a:t>
            </a:r>
          </a:p>
          <a:p>
            <a:endParaRPr lang="fr-FR" dirty="0"/>
          </a:p>
          <a:p>
            <a:r>
              <a:rPr lang="fr-FR" b="1" dirty="0"/>
              <a:t>Besoin fonctionnel</a:t>
            </a:r>
            <a:r>
              <a:rPr lang="fr-FR" dirty="0"/>
              <a:t> : Puis les besoins fonctionnels détaillés, c'est-à-dire les actions concrètes que chaque profil doit pouvoir réaliser.</a:t>
            </a:r>
          </a:p>
          <a:p>
            <a:endParaRPr lang="fr-FR" dirty="0"/>
          </a:p>
          <a:p>
            <a:r>
              <a:rPr lang="fr-FR" b="1" dirty="0"/>
              <a:t>Choix</a:t>
            </a:r>
            <a:r>
              <a:rPr lang="fr-FR" dirty="0"/>
              <a:t> : Je présenterai ensuite les choix techniques retenus, ainsi que leur justification.</a:t>
            </a:r>
          </a:p>
          <a:p>
            <a:endParaRPr lang="fr-FR" dirty="0"/>
          </a:p>
          <a:p>
            <a:r>
              <a:rPr lang="fr-FR" b="1" dirty="0"/>
              <a:t>Contraintes</a:t>
            </a:r>
            <a:r>
              <a:rPr lang="fr-FR" dirty="0"/>
              <a:t> : Puis les contraintes imposées par le projet, qui encadrent nos marges de manœuvre.</a:t>
            </a:r>
          </a:p>
          <a:p>
            <a:endParaRPr lang="fr-FR" dirty="0"/>
          </a:p>
          <a:p>
            <a:r>
              <a:rPr lang="fr-FR" b="1" dirty="0"/>
              <a:t>Risques identifiées</a:t>
            </a:r>
            <a:r>
              <a:rPr lang="fr-FR" dirty="0"/>
              <a:t> : je parlerai aussi des risques identifiés, et des solutions envisagées pour les limiter.</a:t>
            </a:r>
          </a:p>
          <a:p>
            <a:endParaRPr lang="fr-FR" dirty="0"/>
          </a:p>
          <a:p>
            <a:r>
              <a:rPr lang="fr-FR" b="1" dirty="0"/>
              <a:t>Planning</a:t>
            </a:r>
            <a:r>
              <a:rPr lang="fr-FR" dirty="0"/>
              <a:t> : Et je terminerai par le planning prévisionnel, jusqu'au rendu final.</a:t>
            </a:r>
          </a:p>
          <a:p>
            <a:endParaRPr lang="en-US" dirty="0"/>
          </a:p>
        </p:txBody>
      </p:sp>
      <p:sp>
        <p:nvSpPr>
          <p:cNvPr id="4" name="Slide Number Placeholder 3">
            <a:extLst>
              <a:ext uri="{FF2B5EF4-FFF2-40B4-BE49-F238E27FC236}">
                <a16:creationId xmlns:a16="http://schemas.microsoft.com/office/drawing/2014/main" id="{7708688F-6587-88ED-BD97-36F6879BB933}"/>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32647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dirty="0"/>
              <a:t>Aujourd'hui, la documentation technique des modules du banc de test KNX est dispersée entre plusieurs supports, sans réelle organisation ni point d'accès unique.</a:t>
            </a:r>
          </a:p>
          <a:p>
            <a:pPr rtl="0"/>
            <a:r>
              <a:rPr lang="fr-FR" dirty="0"/>
              <a:t>L'objectif est donc de centraliser cette documentation dans une base de données unique, et de la sécuriser contre les risques de cyberattaques.</a:t>
            </a:r>
          </a:p>
          <a:p>
            <a:pPr rtl="0"/>
            <a:r>
              <a:rPr lang="fr-FR" dirty="0"/>
              <a:t>Cet accès doit être adapté à deux profils différents : les enseignants, qui doivent pouvoir saisir et organiser la documentation, et les apprentis, qui doivent pouvoir la consulter en autonomie.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b="1" dirty="0"/>
              <a:t>Créer une interface web intuitive et sécurisée</a:t>
            </a:r>
            <a:r>
              <a:rPr lang="fr-FR" dirty="0"/>
              <a:t> : Le premier objectif est de créer une interface web, à la fois simple d'utilisation et sécurisée, puisqu'elle donnera accès à des données pédagogiques sensibles.</a:t>
            </a:r>
          </a:p>
          <a:p>
            <a:pPr rtl="0"/>
            <a:r>
              <a:rPr lang="fr-FR" b="1" dirty="0"/>
              <a:t>Centraliser la documentation technique en un accès unique</a:t>
            </a:r>
            <a:r>
              <a:rPr lang="fr-FR" dirty="0"/>
              <a:t> : "Le deuxième est de centraliser toute la documentation technique des modules KNX en un seul point d'accès, plutôt que dispersée comme aujourd'hui.</a:t>
            </a:r>
          </a:p>
          <a:p>
            <a:pPr rtl="0"/>
            <a:r>
              <a:rPr lang="fr-FR" b="1" dirty="0"/>
              <a:t>Gérer les droits d'accès selon le profil</a:t>
            </a:r>
            <a:r>
              <a:rPr lang="fr-FR" dirty="0"/>
              <a:t> : Le troisième objectif est de gérer des droits différents selon le profil : un enseignant pourra créer et modifier une fiche, un apprenti pourra uniquement la consulter.</a:t>
            </a:r>
          </a:p>
          <a:p>
            <a:pPr rtl="0"/>
            <a:r>
              <a:rPr lang="fr-FR" b="1" dirty="0"/>
              <a:t>Assurer la traçabilité avec un historique des modifications</a:t>
            </a:r>
            <a:r>
              <a:rPr lang="fr-FR" dirty="0"/>
              <a:t> : Enfin, le dernier objectif est d'assurer une traçabilité complète, avec un historique des modifications apportées à la documentation.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Documentation : </a:t>
            </a:r>
            <a:r>
              <a:rPr lang="fr-FR" dirty="0"/>
              <a:t>il peut créer une fiche pour un nouveau module, la modifier si les caractéristiques évoluent, ou la supprimer si un module est retiré du banc de test.</a:t>
            </a:r>
          </a:p>
          <a:p>
            <a:endParaRPr lang="fr-FR" dirty="0"/>
          </a:p>
          <a:p>
            <a:r>
              <a:rPr lang="fr-FR" dirty="0"/>
              <a:t>Gestion des droits : La deuxième fonctionnalité concerne son rôle : l'enseignant dispose d'un accès en lecture et en écriture, contrairement à l'apprenti qui n'a qu'un accès en lecture.</a:t>
            </a:r>
          </a:p>
          <a:p>
            <a:endParaRPr lang="fr-FR" dirty="0"/>
          </a:p>
          <a:p>
            <a:r>
              <a:rPr lang="fr-FR" dirty="0"/>
              <a:t>Historique : La troisième fonctionnalité est un historique qui trace chaque modification apportée à une fiche, pour savoir qui a changé quoi et quand.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t>Consultation</a:t>
            </a:r>
            <a:r>
              <a:rPr lang="fr-FR" dirty="0"/>
              <a:t> : Côté apprenti, la première fonctionnalité est la consultation de la documentation technique : il peut accéder à la fiche complète d'un module directement depuis l'interface.</a:t>
            </a:r>
          </a:p>
          <a:p>
            <a:endParaRPr lang="fr-FR" dirty="0"/>
          </a:p>
          <a:p>
            <a:r>
              <a:rPr lang="fr-FR" b="1" dirty="0"/>
              <a:t>Recherche</a:t>
            </a:r>
            <a:r>
              <a:rPr lang="fr-FR" dirty="0"/>
              <a:t> : La deuxième fonctionnalité est une recherche par nom de module ou par mot-clé, pour retrouver rapidement l'information sans parcourir toute la liste.</a:t>
            </a:r>
          </a:p>
          <a:p>
            <a:endParaRPr lang="fr-FR" dirty="0"/>
          </a:p>
          <a:p>
            <a:r>
              <a:rPr lang="fr-FR" b="1" dirty="0"/>
              <a:t>Ressources</a:t>
            </a:r>
            <a:r>
              <a:rPr lang="fr-FR" dirty="0"/>
              <a:t> : La troisième fonctionnalité donne accès aux ressources associées à chaque module, comme des schémas techniques ou des fichiers complémentaires.</a:t>
            </a:r>
          </a:p>
          <a:p>
            <a:endParaRPr lang="fr-FR" dirty="0"/>
          </a:p>
          <a:p>
            <a:r>
              <a:rPr lang="fr-FR" b="1" dirty="0"/>
              <a:t>Authentification</a:t>
            </a:r>
            <a:r>
              <a:rPr lang="fr-FR" dirty="0"/>
              <a:t> : Enfin, l'accès à l’interface web passe par une authentification avec une session sécurisée, pour garantir que seuls les enseignants et apprentis de l'établissement peuvent consulter la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dirty="0"/>
              <a:t>pour le </a:t>
            </a:r>
            <a:r>
              <a:rPr lang="fr-FR" dirty="0" err="1"/>
              <a:t>back-end</a:t>
            </a:r>
            <a:r>
              <a:rPr lang="fr-FR" dirty="0"/>
              <a:t>, j'ai choisi Python avec le </a:t>
            </a:r>
            <a:r>
              <a:rPr lang="fr-FR" dirty="0" err="1"/>
              <a:t>framework</a:t>
            </a:r>
            <a:r>
              <a:rPr lang="fr-FR" dirty="0"/>
              <a:t> Flask. Il reste léger et laisse la maîtrise complète du code, ce qui correspond à l'exigence du sujet de pouvoir tout expliquer </a:t>
            </a:r>
          </a:p>
          <a:p>
            <a:pPr rtl="0"/>
            <a:r>
              <a:rPr lang="fr-FR" b="1" dirty="0"/>
              <a:t>Base de données : </a:t>
            </a:r>
            <a:r>
              <a:rPr lang="fr-FR" b="1" dirty="0" err="1"/>
              <a:t>MariaDB</a:t>
            </a:r>
            <a:r>
              <a:rPr lang="fr-FR" dirty="0"/>
              <a:t> : Pour la base de données, j'ai retenu </a:t>
            </a:r>
            <a:r>
              <a:rPr lang="fr-FR" dirty="0" err="1"/>
              <a:t>MariaDB</a:t>
            </a:r>
            <a:r>
              <a:rPr lang="fr-FR" dirty="0"/>
              <a:t> : un système de gestion de base de données relationnel, open-source et robuste, parfaitement adapté au volume de données d'une documentation technique </a:t>
            </a:r>
          </a:p>
          <a:p>
            <a:pPr rtl="0"/>
            <a:r>
              <a:rPr lang="fr-FR" b="1" dirty="0"/>
              <a:t>Architecture : Serveur unique </a:t>
            </a:r>
            <a:r>
              <a:rPr lang="fr-FR" dirty="0"/>
              <a:t>: L'architecture repose sur le serveur unique, qui héberge à la fois l'application et la base de données, accessible depuis n'importe quel poste via le réseau local, grâce au switch et au routeur également fournis.</a:t>
            </a:r>
          </a:p>
          <a:p>
            <a:pPr rtl="0"/>
            <a:r>
              <a:rPr lang="fr-FR" b="1" dirty="0"/>
              <a:t>Authentification : Sessions sécurisées</a:t>
            </a:r>
            <a:r>
              <a:rPr lang="fr-FR" dirty="0"/>
              <a:t> : l'accès sera protégé par un système d'authentification avec des sessions sécurisées, pour répondre à l'exigence de sécurité de la base de données contre les cyberattaques.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b="1" dirty="0"/>
              <a:t>Git</a:t>
            </a:r>
            <a:r>
              <a:rPr lang="fr-FR" dirty="0"/>
              <a:t> — </a:t>
            </a:r>
            <a:r>
              <a:rPr lang="fr-FR" dirty="0" err="1"/>
              <a:t>commits</a:t>
            </a:r>
            <a:r>
              <a:rPr lang="fr-FR" dirty="0"/>
              <a:t> fréquents, historique complet</a:t>
            </a:r>
          </a:p>
          <a:p>
            <a:pPr rtl="0"/>
            <a:r>
              <a:rPr lang="fr-FR" b="1" dirty="0"/>
              <a:t>Réseau</a:t>
            </a:r>
            <a:r>
              <a:rPr lang="fr-FR" dirty="0"/>
              <a:t> — déploiement sur réseau local uniquement</a:t>
            </a:r>
          </a:p>
          <a:p>
            <a:pPr rtl="0"/>
            <a:r>
              <a:rPr lang="fr-FR" b="1" dirty="0"/>
              <a:t>Sécurité</a:t>
            </a:r>
            <a:r>
              <a:rPr lang="fr-FR" dirty="0"/>
              <a:t> — mots de passe </a:t>
            </a:r>
            <a:r>
              <a:rPr lang="fr-FR" dirty="0" err="1"/>
              <a:t>hashés</a:t>
            </a:r>
            <a:r>
              <a:rPr lang="fr-FR" dirty="0"/>
              <a:t>, requêtes préparées contre les injections SQL</a:t>
            </a:r>
          </a:p>
          <a:p>
            <a:pPr rtl="0"/>
            <a:r>
              <a:rPr lang="fr-FR" b="1" dirty="0"/>
              <a:t>Code</a:t>
            </a:r>
            <a:r>
              <a:rPr lang="fr-FR" dirty="0"/>
              <a:t> — structuré, commenté, explicable</a:t>
            </a:r>
          </a:p>
          <a:p>
            <a:pPr rtl="0"/>
            <a:r>
              <a:rPr lang="fr-FR" b="1" dirty="0"/>
              <a:t>Interface</a:t>
            </a:r>
            <a:r>
              <a:rPr lang="fr-FR" dirty="0"/>
              <a:t> — fonctionnalité avant l'apparence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t>
            </a:r>
            <a:r>
              <a:rPr lang="fr-FR" dirty="0"/>
              <a:t>ai identifié trois risques principaux, classés par criticité. Le plus important concerne la sécurité, avec le risque d'injection SQL, limité grâce à des requêtes paramétrées et une validation des entrées. Je surveille aussi la perte de données, limitée par des sauvegardes régulières, et d'éventuels conflits Git, en travaillant sur des branches de développement isolées.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EDE9"/>
          </a:solidFill>
          <a:ln/>
        </p:spPr>
        <p:txBody>
          <a:bodyPr/>
          <a:lstStyle/>
          <a:p>
            <a:endParaRPr lang="fr-FR"/>
          </a:p>
        </p:txBody>
      </p:sp>
      <p:sp>
        <p:nvSpPr>
          <p:cNvPr id="3" name="Shape 1"/>
          <p:cNvSpPr/>
          <p:nvPr/>
        </p:nvSpPr>
        <p:spPr>
          <a:xfrm>
            <a:off x="0" y="0"/>
            <a:ext cx="12191695" cy="6858000"/>
          </a:xfrm>
          <a:prstGeom prst="rect">
            <a:avLst/>
          </a:prstGeom>
          <a:solidFill>
            <a:srgbClr val="FFFCFA"/>
          </a:solidFill>
          <a:ln/>
        </p:spPr>
        <p:txBody>
          <a:bodyPr/>
          <a:lstStyle/>
          <a:p>
            <a:endParaRPr lang="fr-FR"/>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2157710"/>
            <a:ext cx="10868745" cy="516731"/>
          </a:xfrm>
          <a:prstGeom prst="rect">
            <a:avLst/>
          </a:prstGeom>
          <a:noFill/>
          <a:ln/>
        </p:spPr>
        <p:txBody>
          <a:bodyPr wrap="none" lIns="0" tIns="0" rIns="0" bIns="0" rtlCol="0" anchor="t"/>
          <a:lstStyle/>
          <a:p>
            <a:pPr marL="0" indent="0" algn="ctr">
              <a:lnSpc>
                <a:spcPct val="104000"/>
              </a:lnSpc>
              <a:buNone/>
            </a:pPr>
            <a:r>
              <a:rPr lang="en-US" sz="3250" b="1" dirty="0">
                <a:solidFill>
                  <a:srgbClr val="443728"/>
                </a:solidFill>
                <a:latin typeface="Crimson Pro Bold" pitchFamily="34" charset="0"/>
                <a:ea typeface="Crimson Pro Bold" pitchFamily="34" charset="-122"/>
                <a:cs typeface="Crimson Pro Bold" pitchFamily="34" charset="-120"/>
              </a:rPr>
              <a:t>Centralisation Documentation Technique KNX</a:t>
            </a:r>
            <a:endParaRPr lang="en-US" sz="3250" dirty="0"/>
          </a:p>
        </p:txBody>
      </p:sp>
      <p:sp>
        <p:nvSpPr>
          <p:cNvPr id="3" name="Text 1"/>
          <p:cNvSpPr/>
          <p:nvPr/>
        </p:nvSpPr>
        <p:spPr>
          <a:xfrm>
            <a:off x="661475" y="3005138"/>
            <a:ext cx="10868745" cy="1695152"/>
          </a:xfrm>
          <a:prstGeom prst="rect">
            <a:avLst/>
          </a:prstGeom>
          <a:noFill/>
          <a:ln/>
        </p:spPr>
        <p:txBody>
          <a:bodyPr wrap="square" lIns="0" tIns="0" rIns="0" bIns="0" rtlCol="0" anchor="t"/>
          <a:lstStyle/>
          <a:p>
            <a:pPr marL="0" indent="0" algn="ctr">
              <a:lnSpc>
                <a:spcPct val="133000"/>
              </a:lnSpc>
              <a:spcAft>
                <a:spcPts val="1450"/>
              </a:spcAft>
              <a:buNone/>
            </a:pPr>
            <a:r>
              <a:rPr lang="en-US" sz="1300" dirty="0">
                <a:solidFill>
                  <a:srgbClr val="443728"/>
                </a:solidFill>
                <a:latin typeface="Open Sans" pitchFamily="34" charset="0"/>
                <a:ea typeface="Open Sans" pitchFamily="34" charset="-122"/>
                <a:cs typeface="Open Sans" pitchFamily="34" charset="-120"/>
              </a:rPr>
              <a:t>Revue 2 — Cahier des charges</a:t>
            </a:r>
            <a:endParaRPr lang="en-US" sz="1300" dirty="0"/>
          </a:p>
          <a:p>
            <a:pPr marL="0" indent="0" algn="ctr">
              <a:lnSpc>
                <a:spcPct val="133000"/>
              </a:lnSpc>
              <a:buNone/>
            </a:pPr>
            <a:r>
              <a:rPr lang="en-US" sz="1300" dirty="0">
                <a:solidFill>
                  <a:srgbClr val="443728"/>
                </a:solidFill>
                <a:latin typeface="Open Sans" pitchFamily="34" charset="0"/>
                <a:ea typeface="Open Sans" pitchFamily="34" charset="-122"/>
                <a:cs typeface="Open Sans" pitchFamily="34" charset="-120"/>
              </a:rPr>
              <a:t>Demandeur : Alpha</a:t>
            </a:r>
            <a:endParaRPr lang="en-US" sz="1300" dirty="0"/>
          </a:p>
          <a:p>
            <a:pPr marL="0" indent="0" algn="ctr">
              <a:lnSpc>
                <a:spcPct val="133000"/>
              </a:lnSpc>
              <a:spcAft>
                <a:spcPts val="1450"/>
              </a:spcAft>
              <a:buNone/>
            </a:pPr>
            <a:r>
              <a:rPr lang="en-US" sz="1300" dirty="0">
                <a:solidFill>
                  <a:srgbClr val="443728"/>
                </a:solidFill>
                <a:latin typeface="Open Sans" pitchFamily="34" charset="0"/>
                <a:ea typeface="Open Sans" pitchFamily="34" charset="-122"/>
                <a:cs typeface="Open Sans" pitchFamily="34" charset="-120"/>
              </a:rPr>
              <a:t>Réalisateurs : Théo &amp; Maxence</a:t>
            </a:r>
            <a:endParaRPr lang="en-US" sz="1300" dirty="0"/>
          </a:p>
          <a:p>
            <a:pPr marL="0" indent="0" algn="ctr">
              <a:lnSpc>
                <a:spcPct val="133000"/>
              </a:lnSpc>
              <a:buNone/>
            </a:pPr>
            <a:r>
              <a:rPr lang="en-US" sz="1300" dirty="0">
                <a:solidFill>
                  <a:srgbClr val="443728"/>
                </a:solidFill>
                <a:latin typeface="Open Sans" pitchFamily="34" charset="0"/>
                <a:ea typeface="Open Sans" pitchFamily="34" charset="-122"/>
                <a:cs typeface="Open Sans" pitchFamily="34" charset="-120"/>
              </a:rPr>
              <a:t>Section : BTS CIEL</a:t>
            </a:r>
            <a:endParaRPr lang="en-US" sz="1300" dirty="0"/>
          </a:p>
          <a:p>
            <a:pPr marL="0" indent="0" algn="ctr">
              <a:lnSpc>
                <a:spcPct val="133000"/>
              </a:lnSpc>
              <a:buNone/>
            </a:pPr>
            <a:r>
              <a:rPr lang="en-US" sz="1300" dirty="0">
                <a:solidFill>
                  <a:srgbClr val="443728"/>
                </a:solidFill>
                <a:latin typeface="Open Sans" pitchFamily="34" charset="0"/>
                <a:ea typeface="Open Sans" pitchFamily="34" charset="-122"/>
                <a:cs typeface="Open Sans" pitchFamily="34" charset="-120"/>
              </a:rPr>
              <a:t>Date : 01/09/2026</a:t>
            </a:r>
            <a:endParaRPr lang="en-US" sz="1300" dirty="0"/>
          </a:p>
        </p:txBody>
      </p:sp>
      <p:pic>
        <p:nvPicPr>
          <p:cNvPr id="4" name="Image 3">
            <a:extLst>
              <a:ext uri="{FF2B5EF4-FFF2-40B4-BE49-F238E27FC236}">
                <a16:creationId xmlns:a16="http://schemas.microsoft.com/office/drawing/2014/main" id="{17251720-A1B9-C1A4-3F55-1FDE2C799379}"/>
              </a:ext>
            </a:extLst>
          </p:cNvPr>
          <p:cNvPicPr>
            <a:picLocks noChangeAspect="1"/>
          </p:cNvPicPr>
          <p:nvPr/>
        </p:nvPicPr>
        <p:blipFill>
          <a:blip r:embed="rId3"/>
          <a:stretch>
            <a:fillRect/>
          </a:stretch>
        </p:blipFill>
        <p:spPr>
          <a:xfrm>
            <a:off x="10147300" y="6299200"/>
            <a:ext cx="2044700" cy="55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906AC-CB26-B952-1288-D1B5813A23D4}"/>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E3A9D80-9215-C479-A139-FA0EC3897170}"/>
              </a:ext>
            </a:extLst>
          </p:cNvPr>
          <p:cNvSpPr/>
          <p:nvPr/>
        </p:nvSpPr>
        <p:spPr>
          <a:xfrm>
            <a:off x="766578" y="268288"/>
            <a:ext cx="8630737" cy="465360"/>
          </a:xfrm>
          <a:prstGeom prst="rect">
            <a:avLst/>
          </a:prstGeom>
          <a:noFill/>
          <a:ln/>
        </p:spPr>
        <p:txBody>
          <a:bodyPr wrap="none" lIns="0" tIns="0" rIns="0" bIns="0" rtlCol="0" anchor="t"/>
          <a:lstStyle/>
          <a:p>
            <a:pPr marL="0" indent="0" algn="l">
              <a:lnSpc>
                <a:spcPct val="104000"/>
              </a:lnSpc>
              <a:buNone/>
            </a:pPr>
            <a:r>
              <a:rPr lang="en-US" sz="3250" b="1" dirty="0" err="1">
                <a:solidFill>
                  <a:srgbClr val="443728"/>
                </a:solidFill>
                <a:latin typeface="Crimson Pro Bold" pitchFamily="34" charset="0"/>
              </a:rPr>
              <a:t>Sommaire</a:t>
            </a:r>
            <a:endParaRPr lang="en-US" sz="3250" dirty="0"/>
          </a:p>
        </p:txBody>
      </p:sp>
      <p:pic>
        <p:nvPicPr>
          <p:cNvPr id="5" name="Image 0" descr="preencoded.png">
            <a:extLst>
              <a:ext uri="{FF2B5EF4-FFF2-40B4-BE49-F238E27FC236}">
                <a16:creationId xmlns:a16="http://schemas.microsoft.com/office/drawing/2014/main" id="{3578EAB5-2E44-2D8C-7036-3F7E95F7B9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71238" y="867473"/>
            <a:ext cx="3980821" cy="1106156"/>
          </a:xfrm>
          <a:prstGeom prst="rect">
            <a:avLst/>
          </a:prstGeom>
        </p:spPr>
      </p:pic>
      <p:sp>
        <p:nvSpPr>
          <p:cNvPr id="6" name="Text 3">
            <a:extLst>
              <a:ext uri="{FF2B5EF4-FFF2-40B4-BE49-F238E27FC236}">
                <a16:creationId xmlns:a16="http://schemas.microsoft.com/office/drawing/2014/main" id="{201DB3A5-2743-A929-A8B5-7BC916551705}"/>
              </a:ext>
            </a:extLst>
          </p:cNvPr>
          <p:cNvSpPr/>
          <p:nvPr/>
        </p:nvSpPr>
        <p:spPr>
          <a:xfrm>
            <a:off x="3311249" y="977672"/>
            <a:ext cx="150399" cy="203634"/>
          </a:xfrm>
          <a:prstGeom prst="rect">
            <a:avLst/>
          </a:prstGeom>
          <a:noFill/>
          <a:ln/>
        </p:spPr>
        <p:txBody>
          <a:bodyPr wrap="none" lIns="0" tIns="0" rIns="0" bIns="0" rtlCol="0" anchor="ctr"/>
          <a:lstStyle/>
          <a:p>
            <a:pPr marL="0" indent="0" algn="ctr">
              <a:lnSpc>
                <a:spcPct val="100000"/>
              </a:lnSpc>
              <a:buNone/>
            </a:pPr>
            <a:r>
              <a:rPr lang="en-US" sz="2000" b="1" dirty="0">
                <a:solidFill>
                  <a:srgbClr val="443728"/>
                </a:solidFill>
                <a:latin typeface="Crimson Pro Bold" pitchFamily="34" charset="0"/>
                <a:ea typeface="Crimson Pro Bold" pitchFamily="34" charset="-122"/>
                <a:cs typeface="Crimson Pro Bold" pitchFamily="34" charset="-120"/>
              </a:rPr>
              <a:t>1</a:t>
            </a:r>
            <a:endParaRPr lang="en-US" sz="2000" dirty="0"/>
          </a:p>
        </p:txBody>
      </p:sp>
      <p:sp>
        <p:nvSpPr>
          <p:cNvPr id="7" name="Text 4">
            <a:extLst>
              <a:ext uri="{FF2B5EF4-FFF2-40B4-BE49-F238E27FC236}">
                <a16:creationId xmlns:a16="http://schemas.microsoft.com/office/drawing/2014/main" id="{2101B65B-E39F-5992-1D58-34A90FA41140}"/>
              </a:ext>
            </a:extLst>
          </p:cNvPr>
          <p:cNvSpPr/>
          <p:nvPr/>
        </p:nvSpPr>
        <p:spPr>
          <a:xfrm>
            <a:off x="1565158" y="1377840"/>
            <a:ext cx="3021458" cy="169749"/>
          </a:xfrm>
          <a:prstGeom prst="rect">
            <a:avLst/>
          </a:prstGeom>
          <a:noFill/>
          <a:ln/>
        </p:spPr>
        <p:txBody>
          <a:bodyPr wrap="none" lIns="0" tIns="0" rIns="0" bIns="0" rtlCol="0" anchor="t"/>
          <a:lstStyle/>
          <a:p>
            <a:pPr marL="0" indent="0" algn="ctr">
              <a:lnSpc>
                <a:spcPct val="104000"/>
              </a:lnSpc>
              <a:buNone/>
            </a:pPr>
            <a:r>
              <a:rPr lang="en-US" sz="1600" b="1" dirty="0" err="1">
                <a:solidFill>
                  <a:srgbClr val="443728"/>
                </a:solidFill>
                <a:latin typeface="Crimson Pro Bold" pitchFamily="34" charset="0"/>
              </a:rPr>
              <a:t>Besoin</a:t>
            </a:r>
            <a:endParaRPr lang="en-US" sz="1600" dirty="0"/>
          </a:p>
        </p:txBody>
      </p:sp>
      <p:sp>
        <p:nvSpPr>
          <p:cNvPr id="8" name="Text 5">
            <a:extLst>
              <a:ext uri="{FF2B5EF4-FFF2-40B4-BE49-F238E27FC236}">
                <a16:creationId xmlns:a16="http://schemas.microsoft.com/office/drawing/2014/main" id="{2EB977E6-92F0-C9FC-3356-275D58194F6F}"/>
              </a:ext>
            </a:extLst>
          </p:cNvPr>
          <p:cNvSpPr/>
          <p:nvPr/>
        </p:nvSpPr>
        <p:spPr>
          <a:xfrm>
            <a:off x="1565158" y="1737024"/>
            <a:ext cx="3021458" cy="173788"/>
          </a:xfrm>
          <a:prstGeom prst="rect">
            <a:avLst/>
          </a:prstGeom>
          <a:noFill/>
          <a:ln/>
        </p:spPr>
        <p:txBody>
          <a:bodyPr wrap="none" lIns="0" tIns="0" rIns="0" bIns="0" rtlCol="0" anchor="t"/>
          <a:lstStyle/>
          <a:p>
            <a:pPr marL="0" indent="0" algn="l">
              <a:lnSpc>
                <a:spcPct val="133000"/>
              </a:lnSpc>
              <a:buNone/>
            </a:pPr>
            <a:endParaRPr lang="en-US" sz="1400" dirty="0"/>
          </a:p>
        </p:txBody>
      </p:sp>
      <p:pic>
        <p:nvPicPr>
          <p:cNvPr id="9" name="Image 1" descr="preencoded.png">
            <a:extLst>
              <a:ext uri="{FF2B5EF4-FFF2-40B4-BE49-F238E27FC236}">
                <a16:creationId xmlns:a16="http://schemas.microsoft.com/office/drawing/2014/main" id="{FA588D70-CAFA-3830-5BF2-F7A0359989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8258" y="867473"/>
            <a:ext cx="3980821" cy="1106156"/>
          </a:xfrm>
          <a:prstGeom prst="rect">
            <a:avLst/>
          </a:prstGeom>
        </p:spPr>
      </p:pic>
      <p:sp>
        <p:nvSpPr>
          <p:cNvPr id="10" name="Text 6">
            <a:extLst>
              <a:ext uri="{FF2B5EF4-FFF2-40B4-BE49-F238E27FC236}">
                <a16:creationId xmlns:a16="http://schemas.microsoft.com/office/drawing/2014/main" id="{86FA747E-1D05-9EE2-20F9-3EAF61588495}"/>
              </a:ext>
            </a:extLst>
          </p:cNvPr>
          <p:cNvSpPr/>
          <p:nvPr/>
        </p:nvSpPr>
        <p:spPr>
          <a:xfrm>
            <a:off x="9051179" y="977672"/>
            <a:ext cx="150399" cy="203634"/>
          </a:xfrm>
          <a:prstGeom prst="rect">
            <a:avLst/>
          </a:prstGeom>
          <a:noFill/>
          <a:ln/>
        </p:spPr>
        <p:txBody>
          <a:bodyPr wrap="none" lIns="0" tIns="0" rIns="0" bIns="0" rtlCol="0" anchor="ctr"/>
          <a:lstStyle/>
          <a:p>
            <a:pPr marL="0" indent="0" algn="ctr">
              <a:lnSpc>
                <a:spcPct val="100000"/>
              </a:lnSpc>
              <a:buNone/>
            </a:pPr>
            <a:r>
              <a:rPr lang="en-US" sz="2000" b="1" dirty="0">
                <a:solidFill>
                  <a:srgbClr val="443728"/>
                </a:solidFill>
                <a:latin typeface="Crimson Pro Bold" pitchFamily="34" charset="0"/>
                <a:ea typeface="Crimson Pro Bold" pitchFamily="34" charset="-122"/>
                <a:cs typeface="Crimson Pro Bold" pitchFamily="34" charset="-120"/>
              </a:rPr>
              <a:t>2</a:t>
            </a:r>
            <a:endParaRPr lang="en-US" sz="2000" dirty="0"/>
          </a:p>
        </p:txBody>
      </p:sp>
      <p:sp>
        <p:nvSpPr>
          <p:cNvPr id="11" name="Text 7">
            <a:extLst>
              <a:ext uri="{FF2B5EF4-FFF2-40B4-BE49-F238E27FC236}">
                <a16:creationId xmlns:a16="http://schemas.microsoft.com/office/drawing/2014/main" id="{C912AD0D-4651-FB61-A131-9CD4D27FBDF1}"/>
              </a:ext>
            </a:extLst>
          </p:cNvPr>
          <p:cNvSpPr/>
          <p:nvPr/>
        </p:nvSpPr>
        <p:spPr>
          <a:xfrm>
            <a:off x="7082177" y="1377840"/>
            <a:ext cx="3021458" cy="169749"/>
          </a:xfrm>
          <a:prstGeom prst="rect">
            <a:avLst/>
          </a:prstGeom>
          <a:noFill/>
          <a:ln/>
        </p:spPr>
        <p:txBody>
          <a:bodyPr wrap="none" lIns="0" tIns="0" rIns="0" bIns="0" rtlCol="0" anchor="t"/>
          <a:lstStyle/>
          <a:p>
            <a:pPr marL="0" indent="0" algn="ctr">
              <a:lnSpc>
                <a:spcPct val="104000"/>
              </a:lnSpc>
              <a:buNone/>
            </a:pPr>
            <a:r>
              <a:rPr lang="en-US" sz="1600" b="1" dirty="0">
                <a:solidFill>
                  <a:srgbClr val="443728"/>
                </a:solidFill>
                <a:latin typeface="Crimson Pro Bold" pitchFamily="34" charset="0"/>
              </a:rPr>
              <a:t>Objectif </a:t>
            </a:r>
            <a:r>
              <a:rPr lang="en-US" sz="1600" b="1" dirty="0" err="1">
                <a:solidFill>
                  <a:srgbClr val="443728"/>
                </a:solidFill>
                <a:latin typeface="Crimson Pro Bold" pitchFamily="34" charset="0"/>
              </a:rPr>
              <a:t>Projet</a:t>
            </a:r>
            <a:endParaRPr lang="en-US" sz="1600" dirty="0"/>
          </a:p>
        </p:txBody>
      </p:sp>
      <p:sp>
        <p:nvSpPr>
          <p:cNvPr id="12" name="Text 8">
            <a:extLst>
              <a:ext uri="{FF2B5EF4-FFF2-40B4-BE49-F238E27FC236}">
                <a16:creationId xmlns:a16="http://schemas.microsoft.com/office/drawing/2014/main" id="{849294CD-D3C4-2F44-A93E-E3DA970C9A6F}"/>
              </a:ext>
            </a:extLst>
          </p:cNvPr>
          <p:cNvSpPr/>
          <p:nvPr/>
        </p:nvSpPr>
        <p:spPr>
          <a:xfrm>
            <a:off x="7082177" y="1737024"/>
            <a:ext cx="3021458" cy="173788"/>
          </a:xfrm>
          <a:prstGeom prst="rect">
            <a:avLst/>
          </a:prstGeom>
          <a:noFill/>
          <a:ln/>
        </p:spPr>
        <p:txBody>
          <a:bodyPr wrap="none" lIns="0" tIns="0" rIns="0" bIns="0" rtlCol="0" anchor="t"/>
          <a:lstStyle/>
          <a:p>
            <a:pPr marL="0" indent="0" algn="l">
              <a:lnSpc>
                <a:spcPct val="133000"/>
              </a:lnSpc>
              <a:buNone/>
            </a:pPr>
            <a:endParaRPr lang="en-US" sz="1400" dirty="0"/>
          </a:p>
        </p:txBody>
      </p:sp>
      <p:pic>
        <p:nvPicPr>
          <p:cNvPr id="13" name="Image 2" descr="preencoded.png">
            <a:extLst>
              <a:ext uri="{FF2B5EF4-FFF2-40B4-BE49-F238E27FC236}">
                <a16:creationId xmlns:a16="http://schemas.microsoft.com/office/drawing/2014/main" id="{757C9A74-1425-4093-BF16-77BC53FDC5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71238" y="2519862"/>
            <a:ext cx="3980821" cy="1106156"/>
          </a:xfrm>
          <a:prstGeom prst="rect">
            <a:avLst/>
          </a:prstGeom>
        </p:spPr>
      </p:pic>
      <p:sp>
        <p:nvSpPr>
          <p:cNvPr id="14" name="Text 9">
            <a:extLst>
              <a:ext uri="{FF2B5EF4-FFF2-40B4-BE49-F238E27FC236}">
                <a16:creationId xmlns:a16="http://schemas.microsoft.com/office/drawing/2014/main" id="{7EA92869-C6DA-07D7-337F-2C4A10F3B8A6}"/>
              </a:ext>
            </a:extLst>
          </p:cNvPr>
          <p:cNvSpPr/>
          <p:nvPr/>
        </p:nvSpPr>
        <p:spPr>
          <a:xfrm>
            <a:off x="3311249" y="2637160"/>
            <a:ext cx="150399" cy="203634"/>
          </a:xfrm>
          <a:prstGeom prst="rect">
            <a:avLst/>
          </a:prstGeom>
          <a:noFill/>
          <a:ln/>
        </p:spPr>
        <p:txBody>
          <a:bodyPr wrap="none" lIns="0" tIns="0" rIns="0" bIns="0" rtlCol="0" anchor="ctr"/>
          <a:lstStyle/>
          <a:p>
            <a:pPr marL="0" indent="0" algn="ctr">
              <a:lnSpc>
                <a:spcPct val="100000"/>
              </a:lnSpc>
              <a:buNone/>
            </a:pPr>
            <a:r>
              <a:rPr lang="en-US" sz="2000" b="1" dirty="0">
                <a:solidFill>
                  <a:srgbClr val="443728"/>
                </a:solidFill>
                <a:latin typeface="Crimson Pro Bold" pitchFamily="34" charset="0"/>
                <a:ea typeface="Crimson Pro Bold" pitchFamily="34" charset="-122"/>
                <a:cs typeface="Crimson Pro Bold" pitchFamily="34" charset="-120"/>
              </a:rPr>
              <a:t>3</a:t>
            </a:r>
            <a:endParaRPr lang="en-US" sz="2000" dirty="0"/>
          </a:p>
        </p:txBody>
      </p:sp>
      <p:sp>
        <p:nvSpPr>
          <p:cNvPr id="15" name="Text 10">
            <a:extLst>
              <a:ext uri="{FF2B5EF4-FFF2-40B4-BE49-F238E27FC236}">
                <a16:creationId xmlns:a16="http://schemas.microsoft.com/office/drawing/2014/main" id="{189CB499-43A7-181A-751B-DF4BB6B9E5FD}"/>
              </a:ext>
            </a:extLst>
          </p:cNvPr>
          <p:cNvSpPr/>
          <p:nvPr/>
        </p:nvSpPr>
        <p:spPr>
          <a:xfrm>
            <a:off x="1565158" y="3030229"/>
            <a:ext cx="3021458" cy="169749"/>
          </a:xfrm>
          <a:prstGeom prst="rect">
            <a:avLst/>
          </a:prstGeom>
          <a:noFill/>
          <a:ln/>
        </p:spPr>
        <p:txBody>
          <a:bodyPr wrap="none" lIns="0" tIns="0" rIns="0" bIns="0" rtlCol="0" anchor="t"/>
          <a:lstStyle/>
          <a:p>
            <a:pPr marL="0" indent="0" algn="ctr">
              <a:lnSpc>
                <a:spcPct val="104000"/>
              </a:lnSpc>
              <a:buNone/>
            </a:pPr>
            <a:r>
              <a:rPr lang="en-US" sz="1600" b="1" dirty="0" err="1">
                <a:solidFill>
                  <a:srgbClr val="443728"/>
                </a:solidFill>
                <a:latin typeface="Crimson Pro Bold" pitchFamily="34" charset="0"/>
              </a:rPr>
              <a:t>Besoin</a:t>
            </a:r>
            <a:r>
              <a:rPr lang="en-US" sz="1600" b="1" dirty="0">
                <a:solidFill>
                  <a:srgbClr val="443728"/>
                </a:solidFill>
                <a:latin typeface="Crimson Pro Bold" pitchFamily="34" charset="0"/>
              </a:rPr>
              <a:t> </a:t>
            </a:r>
            <a:r>
              <a:rPr lang="en-US" sz="1600" b="1" dirty="0" err="1">
                <a:solidFill>
                  <a:srgbClr val="443728"/>
                </a:solidFill>
                <a:latin typeface="Crimson Pro Bold" pitchFamily="34" charset="0"/>
              </a:rPr>
              <a:t>fonctionnel</a:t>
            </a:r>
            <a:endParaRPr lang="en-US" sz="1600" dirty="0"/>
          </a:p>
        </p:txBody>
      </p:sp>
      <p:sp>
        <p:nvSpPr>
          <p:cNvPr id="16" name="Text 11">
            <a:extLst>
              <a:ext uri="{FF2B5EF4-FFF2-40B4-BE49-F238E27FC236}">
                <a16:creationId xmlns:a16="http://schemas.microsoft.com/office/drawing/2014/main" id="{0EB9CBA9-0203-D8BF-EBCF-25A001F64E38}"/>
              </a:ext>
            </a:extLst>
          </p:cNvPr>
          <p:cNvSpPr/>
          <p:nvPr/>
        </p:nvSpPr>
        <p:spPr>
          <a:xfrm>
            <a:off x="1565158" y="3389413"/>
            <a:ext cx="3021458" cy="173788"/>
          </a:xfrm>
          <a:prstGeom prst="rect">
            <a:avLst/>
          </a:prstGeom>
          <a:noFill/>
          <a:ln/>
        </p:spPr>
        <p:txBody>
          <a:bodyPr wrap="none" lIns="0" tIns="0" rIns="0" bIns="0" rtlCol="0" anchor="t"/>
          <a:lstStyle/>
          <a:p>
            <a:pPr marL="0" indent="0" algn="l">
              <a:lnSpc>
                <a:spcPct val="133000"/>
              </a:lnSpc>
              <a:buNone/>
            </a:pPr>
            <a:endParaRPr lang="en-US" sz="1400" dirty="0"/>
          </a:p>
        </p:txBody>
      </p:sp>
      <p:pic>
        <p:nvPicPr>
          <p:cNvPr id="17" name="Image 3" descr="preencoded.png">
            <a:extLst>
              <a:ext uri="{FF2B5EF4-FFF2-40B4-BE49-F238E27FC236}">
                <a16:creationId xmlns:a16="http://schemas.microsoft.com/office/drawing/2014/main" id="{DB0FD734-55C8-5703-34C3-3AF21BEBF2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8258" y="2519862"/>
            <a:ext cx="3980821" cy="1106156"/>
          </a:xfrm>
          <a:prstGeom prst="rect">
            <a:avLst/>
          </a:prstGeom>
        </p:spPr>
      </p:pic>
      <p:sp>
        <p:nvSpPr>
          <p:cNvPr id="18" name="Text 12">
            <a:extLst>
              <a:ext uri="{FF2B5EF4-FFF2-40B4-BE49-F238E27FC236}">
                <a16:creationId xmlns:a16="http://schemas.microsoft.com/office/drawing/2014/main" id="{6604EA8B-019E-C128-48FE-FA5F15318CF4}"/>
              </a:ext>
            </a:extLst>
          </p:cNvPr>
          <p:cNvSpPr/>
          <p:nvPr/>
        </p:nvSpPr>
        <p:spPr>
          <a:xfrm>
            <a:off x="9056999" y="2631397"/>
            <a:ext cx="150399" cy="203634"/>
          </a:xfrm>
          <a:prstGeom prst="rect">
            <a:avLst/>
          </a:prstGeom>
          <a:noFill/>
          <a:ln/>
        </p:spPr>
        <p:txBody>
          <a:bodyPr wrap="none" lIns="0" tIns="0" rIns="0" bIns="0" rtlCol="0" anchor="ctr"/>
          <a:lstStyle/>
          <a:p>
            <a:pPr marL="0" indent="0" algn="ctr">
              <a:lnSpc>
                <a:spcPct val="100000"/>
              </a:lnSpc>
              <a:buNone/>
            </a:pPr>
            <a:r>
              <a:rPr lang="en-US" sz="2000" b="1" dirty="0">
                <a:solidFill>
                  <a:srgbClr val="443728"/>
                </a:solidFill>
                <a:latin typeface="Crimson Pro Bold" pitchFamily="34" charset="0"/>
                <a:ea typeface="Crimson Pro Bold" pitchFamily="34" charset="-122"/>
                <a:cs typeface="Crimson Pro Bold" pitchFamily="34" charset="-120"/>
              </a:rPr>
              <a:t>4</a:t>
            </a:r>
            <a:endParaRPr lang="en-US" sz="2000" dirty="0"/>
          </a:p>
        </p:txBody>
      </p:sp>
      <p:sp>
        <p:nvSpPr>
          <p:cNvPr id="19" name="Text 13">
            <a:extLst>
              <a:ext uri="{FF2B5EF4-FFF2-40B4-BE49-F238E27FC236}">
                <a16:creationId xmlns:a16="http://schemas.microsoft.com/office/drawing/2014/main" id="{737F10B4-D941-CACB-BAA3-983C1FCEF570}"/>
              </a:ext>
            </a:extLst>
          </p:cNvPr>
          <p:cNvSpPr/>
          <p:nvPr/>
        </p:nvSpPr>
        <p:spPr>
          <a:xfrm>
            <a:off x="7082177" y="3030229"/>
            <a:ext cx="3021458" cy="169749"/>
          </a:xfrm>
          <a:prstGeom prst="rect">
            <a:avLst/>
          </a:prstGeom>
          <a:noFill/>
          <a:ln/>
        </p:spPr>
        <p:txBody>
          <a:bodyPr wrap="none" lIns="0" tIns="0" rIns="0" bIns="0" rtlCol="0" anchor="t"/>
          <a:lstStyle/>
          <a:p>
            <a:pPr marL="0" indent="0" algn="l">
              <a:lnSpc>
                <a:spcPct val="104000"/>
              </a:lnSpc>
              <a:buNone/>
            </a:pPr>
            <a:endParaRPr lang="en-US" sz="1600" dirty="0"/>
          </a:p>
        </p:txBody>
      </p:sp>
      <p:sp>
        <p:nvSpPr>
          <p:cNvPr id="20" name="Text 14">
            <a:extLst>
              <a:ext uri="{FF2B5EF4-FFF2-40B4-BE49-F238E27FC236}">
                <a16:creationId xmlns:a16="http://schemas.microsoft.com/office/drawing/2014/main" id="{68BDE883-CADB-B87A-7D3D-8B7069A3EDBA}"/>
              </a:ext>
            </a:extLst>
          </p:cNvPr>
          <p:cNvSpPr/>
          <p:nvPr/>
        </p:nvSpPr>
        <p:spPr>
          <a:xfrm>
            <a:off x="7082177" y="3389413"/>
            <a:ext cx="3021458" cy="173788"/>
          </a:xfrm>
          <a:prstGeom prst="rect">
            <a:avLst/>
          </a:prstGeom>
          <a:noFill/>
          <a:ln/>
        </p:spPr>
        <p:txBody>
          <a:bodyPr wrap="none" lIns="0" tIns="0" rIns="0" bIns="0" rtlCol="0" anchor="t"/>
          <a:lstStyle/>
          <a:p>
            <a:pPr marL="0" indent="0" algn="l">
              <a:lnSpc>
                <a:spcPct val="133000"/>
              </a:lnSpc>
              <a:buNone/>
            </a:pPr>
            <a:endParaRPr lang="en-US" sz="1400" dirty="0"/>
          </a:p>
        </p:txBody>
      </p:sp>
      <p:pic>
        <p:nvPicPr>
          <p:cNvPr id="21" name="Image 20">
            <a:extLst>
              <a:ext uri="{FF2B5EF4-FFF2-40B4-BE49-F238E27FC236}">
                <a16:creationId xmlns:a16="http://schemas.microsoft.com/office/drawing/2014/main" id="{D4D4D364-3487-7D9E-DD32-AFC746733009}"/>
              </a:ext>
            </a:extLst>
          </p:cNvPr>
          <p:cNvPicPr>
            <a:picLocks noChangeAspect="1"/>
          </p:cNvPicPr>
          <p:nvPr/>
        </p:nvPicPr>
        <p:blipFill>
          <a:blip r:embed="rId4"/>
          <a:stretch>
            <a:fillRect/>
          </a:stretch>
        </p:blipFill>
        <p:spPr>
          <a:xfrm>
            <a:off x="10147300" y="6299200"/>
            <a:ext cx="2044700" cy="558800"/>
          </a:xfrm>
          <a:prstGeom prst="rect">
            <a:avLst/>
          </a:prstGeom>
        </p:spPr>
      </p:pic>
      <p:sp>
        <p:nvSpPr>
          <p:cNvPr id="22" name="Text 10">
            <a:extLst>
              <a:ext uri="{FF2B5EF4-FFF2-40B4-BE49-F238E27FC236}">
                <a16:creationId xmlns:a16="http://schemas.microsoft.com/office/drawing/2014/main" id="{CBE5B101-AEDB-473E-2ABD-72C931389BF9}"/>
              </a:ext>
            </a:extLst>
          </p:cNvPr>
          <p:cNvSpPr/>
          <p:nvPr/>
        </p:nvSpPr>
        <p:spPr>
          <a:xfrm>
            <a:off x="7082177" y="3030229"/>
            <a:ext cx="3021458" cy="169749"/>
          </a:xfrm>
          <a:prstGeom prst="rect">
            <a:avLst/>
          </a:prstGeom>
          <a:noFill/>
          <a:ln/>
        </p:spPr>
        <p:txBody>
          <a:bodyPr wrap="none" lIns="0" tIns="0" rIns="0" bIns="0" rtlCol="0" anchor="t"/>
          <a:lstStyle/>
          <a:p>
            <a:pPr marL="0" indent="0" algn="ctr">
              <a:lnSpc>
                <a:spcPct val="104000"/>
              </a:lnSpc>
              <a:buNone/>
            </a:pPr>
            <a:r>
              <a:rPr lang="en-US" sz="1600" b="1" dirty="0">
                <a:solidFill>
                  <a:srgbClr val="443728"/>
                </a:solidFill>
                <a:latin typeface="Crimson Pro Bold" pitchFamily="34" charset="0"/>
              </a:rPr>
              <a:t>Choix</a:t>
            </a:r>
            <a:endParaRPr lang="en-US" sz="1600" dirty="0"/>
          </a:p>
        </p:txBody>
      </p:sp>
      <p:pic>
        <p:nvPicPr>
          <p:cNvPr id="23" name="Image 2" descr="preencoded.png">
            <a:extLst>
              <a:ext uri="{FF2B5EF4-FFF2-40B4-BE49-F238E27FC236}">
                <a16:creationId xmlns:a16="http://schemas.microsoft.com/office/drawing/2014/main" id="{22B277A1-42D3-B8CE-E8EE-24F005F602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71238" y="4139211"/>
            <a:ext cx="3980821" cy="1106156"/>
          </a:xfrm>
          <a:prstGeom prst="rect">
            <a:avLst/>
          </a:prstGeom>
        </p:spPr>
      </p:pic>
      <p:sp>
        <p:nvSpPr>
          <p:cNvPr id="24" name="Text 9">
            <a:extLst>
              <a:ext uri="{FF2B5EF4-FFF2-40B4-BE49-F238E27FC236}">
                <a16:creationId xmlns:a16="http://schemas.microsoft.com/office/drawing/2014/main" id="{5C4E1B8C-7C96-B709-063D-68A85E696B29}"/>
              </a:ext>
            </a:extLst>
          </p:cNvPr>
          <p:cNvSpPr/>
          <p:nvPr/>
        </p:nvSpPr>
        <p:spPr>
          <a:xfrm>
            <a:off x="3311248" y="4249410"/>
            <a:ext cx="150399" cy="203634"/>
          </a:xfrm>
          <a:prstGeom prst="rect">
            <a:avLst/>
          </a:prstGeom>
          <a:noFill/>
          <a:ln/>
        </p:spPr>
        <p:txBody>
          <a:bodyPr wrap="none" lIns="0" tIns="0" rIns="0" bIns="0" rtlCol="0" anchor="ctr"/>
          <a:lstStyle/>
          <a:p>
            <a:pPr marL="0" indent="0" algn="ctr">
              <a:lnSpc>
                <a:spcPct val="100000"/>
              </a:lnSpc>
              <a:buNone/>
            </a:pPr>
            <a:r>
              <a:rPr lang="en-US" sz="2000" b="1" dirty="0">
                <a:solidFill>
                  <a:srgbClr val="443728"/>
                </a:solidFill>
                <a:latin typeface="Crimson Pro Bold" pitchFamily="34" charset="0"/>
              </a:rPr>
              <a:t>5</a:t>
            </a:r>
            <a:endParaRPr lang="en-US" sz="2000" dirty="0"/>
          </a:p>
        </p:txBody>
      </p:sp>
      <p:sp>
        <p:nvSpPr>
          <p:cNvPr id="25" name="Text 10">
            <a:extLst>
              <a:ext uri="{FF2B5EF4-FFF2-40B4-BE49-F238E27FC236}">
                <a16:creationId xmlns:a16="http://schemas.microsoft.com/office/drawing/2014/main" id="{2B59E4DC-2A00-528A-1902-FA870DB079A6}"/>
              </a:ext>
            </a:extLst>
          </p:cNvPr>
          <p:cNvSpPr/>
          <p:nvPr/>
        </p:nvSpPr>
        <p:spPr>
          <a:xfrm>
            <a:off x="1565158" y="4649578"/>
            <a:ext cx="3021458" cy="169749"/>
          </a:xfrm>
          <a:prstGeom prst="rect">
            <a:avLst/>
          </a:prstGeom>
          <a:noFill/>
          <a:ln/>
        </p:spPr>
        <p:txBody>
          <a:bodyPr wrap="none" lIns="0" tIns="0" rIns="0" bIns="0" rtlCol="0" anchor="t"/>
          <a:lstStyle/>
          <a:p>
            <a:pPr marL="0" indent="0" algn="ctr">
              <a:lnSpc>
                <a:spcPct val="104000"/>
              </a:lnSpc>
              <a:buNone/>
            </a:pPr>
            <a:r>
              <a:rPr lang="en-US" sz="1600" b="1" dirty="0" err="1">
                <a:solidFill>
                  <a:srgbClr val="443728"/>
                </a:solidFill>
                <a:latin typeface="Crimson Pro Bold" pitchFamily="34" charset="0"/>
              </a:rPr>
              <a:t>Contraintes</a:t>
            </a:r>
            <a:endParaRPr lang="en-US" sz="1600" dirty="0"/>
          </a:p>
        </p:txBody>
      </p:sp>
      <p:sp>
        <p:nvSpPr>
          <p:cNvPr id="26" name="Text 11">
            <a:extLst>
              <a:ext uri="{FF2B5EF4-FFF2-40B4-BE49-F238E27FC236}">
                <a16:creationId xmlns:a16="http://schemas.microsoft.com/office/drawing/2014/main" id="{D9225084-7418-8A04-3A76-8528AEC3217D}"/>
              </a:ext>
            </a:extLst>
          </p:cNvPr>
          <p:cNvSpPr/>
          <p:nvPr/>
        </p:nvSpPr>
        <p:spPr>
          <a:xfrm>
            <a:off x="1565158" y="5008762"/>
            <a:ext cx="3021458" cy="173788"/>
          </a:xfrm>
          <a:prstGeom prst="rect">
            <a:avLst/>
          </a:prstGeom>
          <a:noFill/>
          <a:ln/>
        </p:spPr>
        <p:txBody>
          <a:bodyPr wrap="none" lIns="0" tIns="0" rIns="0" bIns="0" rtlCol="0" anchor="t"/>
          <a:lstStyle/>
          <a:p>
            <a:pPr marL="0" indent="0" algn="l">
              <a:lnSpc>
                <a:spcPct val="133000"/>
              </a:lnSpc>
              <a:buNone/>
            </a:pPr>
            <a:endParaRPr lang="en-US" sz="1400" dirty="0"/>
          </a:p>
        </p:txBody>
      </p:sp>
      <p:pic>
        <p:nvPicPr>
          <p:cNvPr id="27" name="Image 2" descr="preencoded.png">
            <a:extLst>
              <a:ext uri="{FF2B5EF4-FFF2-40B4-BE49-F238E27FC236}">
                <a16:creationId xmlns:a16="http://schemas.microsoft.com/office/drawing/2014/main" id="{2C471202-6846-A9BF-D117-C8471A7CCBD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07307" y="4139211"/>
            <a:ext cx="3980821" cy="1106156"/>
          </a:xfrm>
          <a:prstGeom prst="rect">
            <a:avLst/>
          </a:prstGeom>
        </p:spPr>
      </p:pic>
      <p:sp>
        <p:nvSpPr>
          <p:cNvPr id="28" name="Text 9">
            <a:extLst>
              <a:ext uri="{FF2B5EF4-FFF2-40B4-BE49-F238E27FC236}">
                <a16:creationId xmlns:a16="http://schemas.microsoft.com/office/drawing/2014/main" id="{5C136837-7481-3366-1043-3725F7EC5FF0}"/>
              </a:ext>
            </a:extLst>
          </p:cNvPr>
          <p:cNvSpPr/>
          <p:nvPr/>
        </p:nvSpPr>
        <p:spPr>
          <a:xfrm>
            <a:off x="9051179" y="4249410"/>
            <a:ext cx="150399" cy="203634"/>
          </a:xfrm>
          <a:prstGeom prst="rect">
            <a:avLst/>
          </a:prstGeom>
          <a:noFill/>
          <a:ln/>
        </p:spPr>
        <p:txBody>
          <a:bodyPr wrap="none" lIns="0" tIns="0" rIns="0" bIns="0" rtlCol="0" anchor="ctr"/>
          <a:lstStyle/>
          <a:p>
            <a:pPr marL="0" indent="0" algn="ctr">
              <a:lnSpc>
                <a:spcPct val="100000"/>
              </a:lnSpc>
              <a:buNone/>
            </a:pPr>
            <a:r>
              <a:rPr lang="en-US" sz="2000" b="1" dirty="0">
                <a:solidFill>
                  <a:srgbClr val="443728"/>
                </a:solidFill>
                <a:latin typeface="Crimson Pro Bold" pitchFamily="34" charset="0"/>
              </a:rPr>
              <a:t>6</a:t>
            </a:r>
            <a:endParaRPr lang="en-US" sz="2000" dirty="0"/>
          </a:p>
        </p:txBody>
      </p:sp>
      <p:sp>
        <p:nvSpPr>
          <p:cNvPr id="29" name="Text 10">
            <a:extLst>
              <a:ext uri="{FF2B5EF4-FFF2-40B4-BE49-F238E27FC236}">
                <a16:creationId xmlns:a16="http://schemas.microsoft.com/office/drawing/2014/main" id="{1241190D-7318-7F59-F876-6A45388AFE1F}"/>
              </a:ext>
            </a:extLst>
          </p:cNvPr>
          <p:cNvSpPr/>
          <p:nvPr/>
        </p:nvSpPr>
        <p:spPr>
          <a:xfrm>
            <a:off x="7101227" y="4649578"/>
            <a:ext cx="3021458" cy="359184"/>
          </a:xfrm>
          <a:prstGeom prst="rect">
            <a:avLst/>
          </a:prstGeom>
          <a:noFill/>
          <a:ln/>
        </p:spPr>
        <p:txBody>
          <a:bodyPr wrap="none" lIns="0" tIns="0" rIns="0" bIns="0" rtlCol="0" anchor="t"/>
          <a:lstStyle/>
          <a:p>
            <a:pPr marL="0" indent="0" algn="ctr">
              <a:lnSpc>
                <a:spcPct val="104000"/>
              </a:lnSpc>
              <a:buNone/>
            </a:pPr>
            <a:r>
              <a:rPr lang="en-US" sz="1600" b="1" dirty="0">
                <a:solidFill>
                  <a:srgbClr val="443728"/>
                </a:solidFill>
                <a:latin typeface="Crimson Pro Bold" pitchFamily="34" charset="0"/>
              </a:rPr>
              <a:t>Risque </a:t>
            </a:r>
            <a:r>
              <a:rPr lang="en-US" sz="1600" b="1" dirty="0" err="1">
                <a:solidFill>
                  <a:srgbClr val="443728"/>
                </a:solidFill>
                <a:latin typeface="Crimson Pro Bold" pitchFamily="34" charset="0"/>
              </a:rPr>
              <a:t>identifiées</a:t>
            </a:r>
            <a:endParaRPr lang="en-US" sz="1600" dirty="0"/>
          </a:p>
        </p:txBody>
      </p:sp>
      <p:sp>
        <p:nvSpPr>
          <p:cNvPr id="30" name="Text 11">
            <a:extLst>
              <a:ext uri="{FF2B5EF4-FFF2-40B4-BE49-F238E27FC236}">
                <a16:creationId xmlns:a16="http://schemas.microsoft.com/office/drawing/2014/main" id="{D3EDD657-505F-966D-1CF8-039BC8D0CEF2}"/>
              </a:ext>
            </a:extLst>
          </p:cNvPr>
          <p:cNvSpPr/>
          <p:nvPr/>
        </p:nvSpPr>
        <p:spPr>
          <a:xfrm>
            <a:off x="7101227" y="5008762"/>
            <a:ext cx="3021458" cy="173788"/>
          </a:xfrm>
          <a:prstGeom prst="rect">
            <a:avLst/>
          </a:prstGeom>
          <a:noFill/>
          <a:ln/>
        </p:spPr>
        <p:txBody>
          <a:bodyPr wrap="none" lIns="0" tIns="0" rIns="0" bIns="0" rtlCol="0" anchor="t"/>
          <a:lstStyle/>
          <a:p>
            <a:pPr marL="0" indent="0" algn="l">
              <a:lnSpc>
                <a:spcPct val="133000"/>
              </a:lnSpc>
              <a:buNone/>
            </a:pPr>
            <a:endParaRPr lang="en-US" sz="1400" dirty="0"/>
          </a:p>
        </p:txBody>
      </p:sp>
      <p:pic>
        <p:nvPicPr>
          <p:cNvPr id="31" name="Image 2" descr="preencoded.png">
            <a:extLst>
              <a:ext uri="{FF2B5EF4-FFF2-40B4-BE49-F238E27FC236}">
                <a16:creationId xmlns:a16="http://schemas.microsoft.com/office/drawing/2014/main" id="{DDC5FC0A-92D3-DDC3-4A18-47FA71C8D9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84923" y="5508327"/>
            <a:ext cx="3956969" cy="1099528"/>
          </a:xfrm>
          <a:prstGeom prst="rect">
            <a:avLst/>
          </a:prstGeom>
        </p:spPr>
      </p:pic>
      <p:sp>
        <p:nvSpPr>
          <p:cNvPr id="32" name="Text 9">
            <a:extLst>
              <a:ext uri="{FF2B5EF4-FFF2-40B4-BE49-F238E27FC236}">
                <a16:creationId xmlns:a16="http://schemas.microsoft.com/office/drawing/2014/main" id="{0307BE09-D356-AA84-5422-ADEE1E71BD19}"/>
              </a:ext>
            </a:extLst>
          </p:cNvPr>
          <p:cNvSpPr/>
          <p:nvPr/>
        </p:nvSpPr>
        <p:spPr>
          <a:xfrm>
            <a:off x="6101698" y="5571417"/>
            <a:ext cx="161709" cy="205227"/>
          </a:xfrm>
          <a:prstGeom prst="rect">
            <a:avLst/>
          </a:prstGeom>
          <a:noFill/>
          <a:ln/>
        </p:spPr>
        <p:txBody>
          <a:bodyPr wrap="none" lIns="0" tIns="0" rIns="0" bIns="0" rtlCol="0" anchor="ctr"/>
          <a:lstStyle/>
          <a:p>
            <a:pPr marL="0" indent="0" algn="ctr">
              <a:lnSpc>
                <a:spcPct val="100000"/>
              </a:lnSpc>
              <a:buNone/>
            </a:pPr>
            <a:r>
              <a:rPr lang="en-US" sz="1950" b="1" dirty="0">
                <a:solidFill>
                  <a:srgbClr val="443728"/>
                </a:solidFill>
                <a:latin typeface="Crimson Pro Bold" pitchFamily="34" charset="0"/>
              </a:rPr>
              <a:t>7</a:t>
            </a:r>
            <a:endParaRPr lang="en-US" sz="1950" dirty="0"/>
          </a:p>
        </p:txBody>
      </p:sp>
      <p:sp>
        <p:nvSpPr>
          <p:cNvPr id="33" name="Text 10">
            <a:extLst>
              <a:ext uri="{FF2B5EF4-FFF2-40B4-BE49-F238E27FC236}">
                <a16:creationId xmlns:a16="http://schemas.microsoft.com/office/drawing/2014/main" id="{2373BAFE-AFC9-BEA2-FDB5-FAD451426B93}"/>
              </a:ext>
            </a:extLst>
          </p:cNvPr>
          <p:cNvSpPr/>
          <p:nvPr/>
        </p:nvSpPr>
        <p:spPr>
          <a:xfrm>
            <a:off x="4469267" y="6010737"/>
            <a:ext cx="3248678" cy="171077"/>
          </a:xfrm>
          <a:prstGeom prst="rect">
            <a:avLst/>
          </a:prstGeom>
          <a:noFill/>
          <a:ln/>
        </p:spPr>
        <p:txBody>
          <a:bodyPr wrap="none" lIns="0" tIns="0" rIns="0" bIns="0" rtlCol="0" anchor="t"/>
          <a:lstStyle/>
          <a:p>
            <a:pPr marL="0" indent="0" algn="ctr">
              <a:lnSpc>
                <a:spcPct val="104000"/>
              </a:lnSpc>
              <a:buNone/>
            </a:pPr>
            <a:r>
              <a:rPr lang="en-US" sz="1600" b="1" dirty="0">
                <a:solidFill>
                  <a:srgbClr val="443728"/>
                </a:solidFill>
                <a:latin typeface="Crimson Pro Bold" pitchFamily="34" charset="0"/>
              </a:rPr>
              <a:t>Planning </a:t>
            </a:r>
            <a:endParaRPr lang="en-US" sz="1600" dirty="0"/>
          </a:p>
        </p:txBody>
      </p:sp>
      <p:sp>
        <p:nvSpPr>
          <p:cNvPr id="34" name="Text 11">
            <a:extLst>
              <a:ext uri="{FF2B5EF4-FFF2-40B4-BE49-F238E27FC236}">
                <a16:creationId xmlns:a16="http://schemas.microsoft.com/office/drawing/2014/main" id="{6B0A7943-8C3B-782C-E8FC-3C8DD84F3EFD}"/>
              </a:ext>
            </a:extLst>
          </p:cNvPr>
          <p:cNvSpPr/>
          <p:nvPr/>
        </p:nvSpPr>
        <p:spPr>
          <a:xfrm>
            <a:off x="3545107" y="6411448"/>
            <a:ext cx="3956969" cy="238309"/>
          </a:xfrm>
          <a:prstGeom prst="rect">
            <a:avLst/>
          </a:prstGeom>
          <a:noFill/>
          <a:ln/>
        </p:spPr>
        <p:txBody>
          <a:bodyPr wrap="none" lIns="0" tIns="0" rIns="0" bIns="0" rtlCol="0" anchor="t"/>
          <a:lstStyle/>
          <a:p>
            <a:pPr marL="0" indent="0" algn="l">
              <a:lnSpc>
                <a:spcPct val="133000"/>
              </a:lnSpc>
              <a:buNone/>
            </a:pPr>
            <a:endParaRPr lang="en-US" sz="1300" dirty="0"/>
          </a:p>
        </p:txBody>
      </p:sp>
    </p:spTree>
    <p:extLst>
      <p:ext uri="{BB962C8B-B14F-4D97-AF65-F5344CB8AC3E}">
        <p14:creationId xmlns:p14="http://schemas.microsoft.com/office/powerpoint/2010/main" val="2427259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4" grpId="0" animBg="1"/>
      <p:bldP spid="25" grpId="0" animBg="1"/>
      <p:bldP spid="26" grpId="0" animBg="1"/>
      <p:bldP spid="28" grpId="0" animBg="1"/>
      <p:bldP spid="29" grpId="0" animBg="1"/>
      <p:bldP spid="30" grpId="0" animBg="1"/>
      <p:bldP spid="32" grpId="0" animBg="1"/>
      <p:bldP spid="3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2550517"/>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443728"/>
                </a:solidFill>
                <a:latin typeface="Crimson Pro Bold" pitchFamily="34" charset="0"/>
                <a:ea typeface="Crimson Pro Bold" pitchFamily="34" charset="-122"/>
                <a:cs typeface="Crimson Pro Bold" pitchFamily="34" charset="-120"/>
              </a:rPr>
              <a:t>Le besoin</a:t>
            </a:r>
            <a:endParaRPr lang="en-US" sz="3250" dirty="0"/>
          </a:p>
        </p:txBody>
      </p:sp>
      <p:sp>
        <p:nvSpPr>
          <p:cNvPr id="3" name="Text 1"/>
          <p:cNvSpPr/>
          <p:nvPr/>
        </p:nvSpPr>
        <p:spPr>
          <a:xfrm>
            <a:off x="661475" y="3397945"/>
            <a:ext cx="10868745" cy="909538"/>
          </a:xfrm>
          <a:prstGeom prst="rect">
            <a:avLst/>
          </a:prstGeom>
          <a:noFill/>
          <a:ln/>
        </p:spPr>
        <p:txBody>
          <a:bodyPr wrap="square" lIns="0" tIns="66156" rIns="0" bIns="0" rtlCol="0" anchor="t">
            <a:normAutofit/>
          </a:bodyPr>
          <a:lstStyle/>
          <a:p>
            <a:pPr marL="264160" indent="-264160" algn="l">
              <a:lnSpc>
                <a:spcPct val="133000"/>
              </a:lnSpc>
              <a:buSzPct val="100000"/>
              <a:buChar char="•"/>
            </a:pPr>
            <a:r>
              <a:rPr lang="en-US" sz="1300" dirty="0">
                <a:solidFill>
                  <a:srgbClr val="443728"/>
                </a:solidFill>
                <a:latin typeface="Open Sans" pitchFamily="34" charset="0"/>
                <a:ea typeface="Open Sans" pitchFamily="34" charset="-122"/>
                <a:cs typeface="Open Sans" pitchFamily="34" charset="-120"/>
              </a:rPr>
              <a:t>Documentation actuellement </a:t>
            </a:r>
            <a:r>
              <a:rPr lang="en-US" sz="1300" b="1" dirty="0">
                <a:solidFill>
                  <a:srgbClr val="443728"/>
                </a:solidFill>
                <a:latin typeface="Open Sans Bold" pitchFamily="34" charset="0"/>
                <a:ea typeface="Open Sans Bold" pitchFamily="34" charset="-122"/>
                <a:cs typeface="Open Sans Bold" pitchFamily="34" charset="-120"/>
              </a:rPr>
              <a:t>dispersée</a:t>
            </a:r>
            <a:r>
              <a:rPr lang="en-US" sz="1300" dirty="0">
                <a:solidFill>
                  <a:srgbClr val="443728"/>
                </a:solidFill>
                <a:latin typeface="Open Sans" pitchFamily="34" charset="0"/>
                <a:ea typeface="Open Sans" pitchFamily="34" charset="-122"/>
                <a:cs typeface="Open Sans" pitchFamily="34" charset="-120"/>
              </a:rPr>
              <a:t> et d'accès difficile, sans centralisation</a:t>
            </a:r>
            <a:endParaRPr lang="en-US" sz="1300" dirty="0"/>
          </a:p>
          <a:p>
            <a:pPr marL="264160" indent="-264160" algn="l">
              <a:lnSpc>
                <a:spcPct val="133000"/>
              </a:lnSpc>
              <a:buSzPct val="100000"/>
              <a:buChar char="•"/>
            </a:pPr>
            <a:r>
              <a:rPr lang="en-US" sz="1300" dirty="0">
                <a:solidFill>
                  <a:srgbClr val="443728"/>
                </a:solidFill>
                <a:latin typeface="Open Sans" pitchFamily="34" charset="0"/>
                <a:ea typeface="Open Sans" pitchFamily="34" charset="-122"/>
                <a:cs typeface="Open Sans" pitchFamily="34" charset="-120"/>
              </a:rPr>
              <a:t>Objectif : centraliser et sécuriser la documentation technique KNX</a:t>
            </a:r>
            <a:endParaRPr lang="en-US" sz="1300" dirty="0"/>
          </a:p>
          <a:p>
            <a:pPr marL="264160" indent="-264160" algn="l">
              <a:lnSpc>
                <a:spcPct val="133000"/>
              </a:lnSpc>
              <a:buSzPct val="100000"/>
              <a:buChar char="•"/>
            </a:pPr>
            <a:r>
              <a:rPr lang="en-US" sz="1300" dirty="0">
                <a:solidFill>
                  <a:srgbClr val="443728"/>
                </a:solidFill>
                <a:latin typeface="Open Sans" pitchFamily="34" charset="0"/>
                <a:ea typeface="Open Sans" pitchFamily="34" charset="-122"/>
                <a:cs typeface="Open Sans" pitchFamily="34" charset="-120"/>
              </a:rPr>
              <a:t>Accès adapté aux </a:t>
            </a:r>
            <a:r>
              <a:rPr lang="en-US" sz="1300" b="1" dirty="0">
                <a:solidFill>
                  <a:srgbClr val="443728"/>
                </a:solidFill>
                <a:latin typeface="Open Sans Bold" pitchFamily="34" charset="0"/>
                <a:ea typeface="Open Sans Bold" pitchFamily="34" charset="-122"/>
                <a:cs typeface="Open Sans Bold" pitchFamily="34" charset="-120"/>
              </a:rPr>
              <a:t>enseignants</a:t>
            </a:r>
            <a:r>
              <a:rPr lang="en-US" sz="1300" dirty="0">
                <a:solidFill>
                  <a:srgbClr val="443728"/>
                </a:solidFill>
                <a:latin typeface="Open Sans" pitchFamily="34" charset="0"/>
                <a:ea typeface="Open Sans" pitchFamily="34" charset="-122"/>
                <a:cs typeface="Open Sans" pitchFamily="34" charset="-120"/>
              </a:rPr>
              <a:t> et aux </a:t>
            </a:r>
            <a:r>
              <a:rPr lang="en-US" sz="1300" b="1" dirty="0">
                <a:solidFill>
                  <a:srgbClr val="443728"/>
                </a:solidFill>
                <a:latin typeface="Open Sans Bold" pitchFamily="34" charset="0"/>
                <a:ea typeface="Open Sans Bold" pitchFamily="34" charset="-122"/>
                <a:cs typeface="Open Sans Bold" pitchFamily="34" charset="-120"/>
              </a:rPr>
              <a:t>apprentis</a:t>
            </a:r>
            <a:endParaRPr lang="en-US" sz="1300" dirty="0"/>
          </a:p>
        </p:txBody>
      </p:sp>
      <p:pic>
        <p:nvPicPr>
          <p:cNvPr id="4" name="Image 3">
            <a:extLst>
              <a:ext uri="{FF2B5EF4-FFF2-40B4-BE49-F238E27FC236}">
                <a16:creationId xmlns:a16="http://schemas.microsoft.com/office/drawing/2014/main" id="{A90AE148-5BA8-37F4-09CB-CF2C2AEAD7EF}"/>
              </a:ext>
            </a:extLst>
          </p:cNvPr>
          <p:cNvPicPr>
            <a:picLocks noChangeAspect="1"/>
          </p:cNvPicPr>
          <p:nvPr/>
        </p:nvPicPr>
        <p:blipFill>
          <a:blip r:embed="rId3"/>
          <a:stretch>
            <a:fillRect/>
          </a:stretch>
        </p:blipFill>
        <p:spPr>
          <a:xfrm>
            <a:off x="10147300" y="6299200"/>
            <a:ext cx="2044700" cy="558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2389287"/>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443728"/>
                </a:solidFill>
                <a:latin typeface="Crimson Pro Bold" pitchFamily="34" charset="0"/>
                <a:ea typeface="Crimson Pro Bold" pitchFamily="34" charset="-122"/>
                <a:cs typeface="Crimson Pro Bold" pitchFamily="34" charset="-120"/>
              </a:rPr>
              <a:t>Objectifs du projet</a:t>
            </a:r>
            <a:endParaRPr lang="en-US" sz="3250" dirty="0"/>
          </a:p>
        </p:txBody>
      </p:sp>
      <p:sp>
        <p:nvSpPr>
          <p:cNvPr id="3" name="Text 1"/>
          <p:cNvSpPr/>
          <p:nvPr/>
        </p:nvSpPr>
        <p:spPr>
          <a:xfrm>
            <a:off x="661475" y="3236714"/>
            <a:ext cx="10868745" cy="1231999"/>
          </a:xfrm>
          <a:prstGeom prst="rect">
            <a:avLst/>
          </a:prstGeom>
          <a:noFill/>
          <a:ln/>
        </p:spPr>
        <p:txBody>
          <a:bodyPr wrap="square" lIns="0" tIns="66156" rIns="0" bIns="0" rtlCol="0" anchor="t">
            <a:normAutofit/>
          </a:bodyPr>
          <a:lstStyle/>
          <a:p>
            <a:pPr marL="264160" indent="-264160" algn="l">
              <a:lnSpc>
                <a:spcPct val="133000"/>
              </a:lnSpc>
              <a:buSzPct val="100000"/>
              <a:buChar char="•"/>
            </a:pPr>
            <a:r>
              <a:rPr lang="en-US" sz="1300" dirty="0">
                <a:solidFill>
                  <a:srgbClr val="443728"/>
                </a:solidFill>
                <a:latin typeface="Open Sans" pitchFamily="34" charset="0"/>
                <a:ea typeface="Open Sans" pitchFamily="34" charset="-122"/>
                <a:cs typeface="Open Sans" pitchFamily="34" charset="-120"/>
              </a:rPr>
              <a:t>Créer une interface web intuitive et sécurisée</a:t>
            </a:r>
            <a:endParaRPr lang="en-US" sz="1300" dirty="0"/>
          </a:p>
          <a:p>
            <a:pPr marL="264160" indent="-264160" algn="l">
              <a:lnSpc>
                <a:spcPct val="133000"/>
              </a:lnSpc>
              <a:buSzPct val="100000"/>
              <a:buChar char="•"/>
            </a:pPr>
            <a:r>
              <a:rPr lang="en-US" sz="1300" dirty="0">
                <a:solidFill>
                  <a:srgbClr val="443728"/>
                </a:solidFill>
                <a:latin typeface="Open Sans" pitchFamily="34" charset="0"/>
                <a:ea typeface="Open Sans" pitchFamily="34" charset="-122"/>
                <a:cs typeface="Open Sans" pitchFamily="34" charset="-120"/>
              </a:rPr>
              <a:t>Centraliser la documentation technique en un accès unique</a:t>
            </a:r>
            <a:endParaRPr lang="en-US" sz="1300" dirty="0"/>
          </a:p>
          <a:p>
            <a:pPr marL="264160" indent="-264160" algn="l">
              <a:lnSpc>
                <a:spcPct val="133000"/>
              </a:lnSpc>
              <a:buSzPct val="100000"/>
              <a:buChar char="•"/>
            </a:pPr>
            <a:r>
              <a:rPr lang="en-US" sz="1300" dirty="0">
                <a:solidFill>
                  <a:srgbClr val="443728"/>
                </a:solidFill>
                <a:latin typeface="Open Sans" pitchFamily="34" charset="0"/>
                <a:ea typeface="Open Sans" pitchFamily="34" charset="-122"/>
                <a:cs typeface="Open Sans" pitchFamily="34" charset="-120"/>
              </a:rPr>
              <a:t>Gérer les droits d'accès selon le profil (enseignant / apprenti)</a:t>
            </a:r>
            <a:endParaRPr lang="en-US" sz="1300" dirty="0"/>
          </a:p>
          <a:p>
            <a:pPr marL="264160" indent="-264160" algn="l">
              <a:lnSpc>
                <a:spcPct val="133000"/>
              </a:lnSpc>
              <a:buSzPct val="100000"/>
              <a:buChar char="•"/>
            </a:pPr>
            <a:r>
              <a:rPr lang="en-US" sz="1300" dirty="0">
                <a:solidFill>
                  <a:srgbClr val="443728"/>
                </a:solidFill>
                <a:latin typeface="Open Sans" pitchFamily="34" charset="0"/>
                <a:ea typeface="Open Sans" pitchFamily="34" charset="-122"/>
                <a:cs typeface="Open Sans" pitchFamily="34" charset="-120"/>
              </a:rPr>
              <a:t>Assurer la traçabilité avec un historique des modifications</a:t>
            </a:r>
            <a:endParaRPr lang="en-US" sz="1300" dirty="0"/>
          </a:p>
        </p:txBody>
      </p:sp>
      <p:pic>
        <p:nvPicPr>
          <p:cNvPr id="4" name="Image 3">
            <a:extLst>
              <a:ext uri="{FF2B5EF4-FFF2-40B4-BE49-F238E27FC236}">
                <a16:creationId xmlns:a16="http://schemas.microsoft.com/office/drawing/2014/main" id="{95A8A2CD-A210-3A90-5C0F-D5111FDD69DD}"/>
              </a:ext>
            </a:extLst>
          </p:cNvPr>
          <p:cNvPicPr>
            <a:picLocks noChangeAspect="1"/>
          </p:cNvPicPr>
          <p:nvPr/>
        </p:nvPicPr>
        <p:blipFill>
          <a:blip r:embed="rId3"/>
          <a:stretch>
            <a:fillRect/>
          </a:stretch>
        </p:blipFill>
        <p:spPr>
          <a:xfrm>
            <a:off x="10147300" y="6299200"/>
            <a:ext cx="2044700" cy="558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1318121"/>
            <a:ext cx="1106857" cy="251420"/>
          </a:xfrm>
          <a:prstGeom prst="roundRect">
            <a:avLst>
              <a:gd name="adj" fmla="val 22103"/>
            </a:avLst>
          </a:prstGeom>
          <a:noFill/>
          <a:ln w="6350">
            <a:solidFill>
              <a:srgbClr val="835E54"/>
            </a:solidFill>
            <a:prstDash val="solid"/>
          </a:ln>
        </p:spPr>
        <p:txBody>
          <a:bodyPr/>
          <a:lstStyle/>
          <a:p>
            <a:endParaRPr lang="fr-FR"/>
          </a:p>
        </p:txBody>
      </p:sp>
      <p:sp>
        <p:nvSpPr>
          <p:cNvPr id="3" name="Text 1"/>
          <p:cNvSpPr/>
          <p:nvPr/>
        </p:nvSpPr>
        <p:spPr>
          <a:xfrm>
            <a:off x="760691" y="1367730"/>
            <a:ext cx="1518009" cy="152202"/>
          </a:xfrm>
          <a:prstGeom prst="rect">
            <a:avLst/>
          </a:prstGeom>
          <a:noFill/>
          <a:ln/>
        </p:spPr>
        <p:txBody>
          <a:bodyPr wrap="none" lIns="0" tIns="0" rIns="0" bIns="0" rtlCol="0" anchor="t"/>
          <a:lstStyle/>
          <a:p>
            <a:pPr marL="0" indent="0" algn="l">
              <a:lnSpc>
                <a:spcPct val="96000"/>
              </a:lnSpc>
              <a:buNone/>
            </a:pPr>
            <a:r>
              <a:rPr lang="en-US" sz="1000" dirty="0">
                <a:solidFill>
                  <a:srgbClr val="835E54"/>
                </a:solidFill>
                <a:latin typeface="Open Sans" pitchFamily="34" charset="0"/>
                <a:ea typeface="Open Sans" pitchFamily="34" charset="-122"/>
                <a:cs typeface="Open Sans" pitchFamily="34" charset="-120"/>
              </a:rPr>
              <a:t>FONCTIONNEL</a:t>
            </a:r>
            <a:endParaRPr lang="en-US" sz="1000" dirty="0"/>
          </a:p>
        </p:txBody>
      </p:sp>
      <p:sp>
        <p:nvSpPr>
          <p:cNvPr id="4" name="Text 2"/>
          <p:cNvSpPr/>
          <p:nvPr/>
        </p:nvSpPr>
        <p:spPr>
          <a:xfrm>
            <a:off x="661475" y="1635621"/>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443728"/>
                </a:solidFill>
                <a:latin typeface="Crimson Pro Bold" pitchFamily="34" charset="0"/>
                <a:ea typeface="Crimson Pro Bold" pitchFamily="34" charset="-122"/>
                <a:cs typeface="Crimson Pro Bold" pitchFamily="34" charset="-120"/>
              </a:rPr>
              <a:t>Besoins fonctionnels Enseignant</a:t>
            </a:r>
            <a:endParaRPr lang="en-US" sz="32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400399"/>
            <a:ext cx="5351725" cy="1487091"/>
          </a:xfrm>
          <a:prstGeom prst="rect">
            <a:avLst/>
          </a:prstGeom>
        </p:spPr>
      </p:pic>
      <p:sp>
        <p:nvSpPr>
          <p:cNvPr id="6" name="Text 3"/>
          <p:cNvSpPr/>
          <p:nvPr/>
        </p:nvSpPr>
        <p:spPr>
          <a:xfrm>
            <a:off x="3213317" y="2509242"/>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443728"/>
                </a:solidFill>
                <a:latin typeface="Crimson Pro Bold" pitchFamily="34" charset="0"/>
                <a:ea typeface="Crimson Pro Bold" pitchFamily="34" charset="-122"/>
                <a:cs typeface="Crimson Pro Bold" pitchFamily="34" charset="-120"/>
              </a:rPr>
              <a:t>1</a:t>
            </a:r>
            <a:endParaRPr lang="en-US" sz="1950" dirty="0"/>
          </a:p>
        </p:txBody>
      </p:sp>
      <p:sp>
        <p:nvSpPr>
          <p:cNvPr id="7" name="Text 4"/>
          <p:cNvSpPr/>
          <p:nvPr/>
        </p:nvSpPr>
        <p:spPr>
          <a:xfrm>
            <a:off x="845819" y="3080841"/>
            <a:ext cx="4983038" cy="258465"/>
          </a:xfrm>
          <a:prstGeom prst="rect">
            <a:avLst/>
          </a:prstGeom>
          <a:noFill/>
          <a:ln/>
        </p:spPr>
        <p:txBody>
          <a:bodyPr wrap="none" lIns="0" tIns="0" rIns="0" bIns="0" rtlCol="0" anchor="t"/>
          <a:lstStyle/>
          <a:p>
            <a:pPr marL="0" indent="0" algn="l">
              <a:lnSpc>
                <a:spcPct val="104000"/>
              </a:lnSpc>
              <a:buNone/>
            </a:pPr>
            <a:r>
              <a:rPr lang="en-US" sz="1600" b="1" dirty="0">
                <a:solidFill>
                  <a:srgbClr val="443728"/>
                </a:solidFill>
                <a:latin typeface="Crimson Pro Bold" pitchFamily="34" charset="0"/>
                <a:ea typeface="Crimson Pro Bold" pitchFamily="34" charset="-122"/>
                <a:cs typeface="Crimson Pro Bold" pitchFamily="34" charset="-120"/>
              </a:rPr>
              <a:t>Documentation</a:t>
            </a:r>
            <a:endParaRPr lang="en-US" sz="1600" dirty="0"/>
          </a:p>
        </p:txBody>
      </p:sp>
      <p:sp>
        <p:nvSpPr>
          <p:cNvPr id="8" name="Text 5"/>
          <p:cNvSpPr/>
          <p:nvPr/>
        </p:nvSpPr>
        <p:spPr>
          <a:xfrm>
            <a:off x="845819" y="3438525"/>
            <a:ext cx="4983038" cy="264616"/>
          </a:xfrm>
          <a:prstGeom prst="rect">
            <a:avLst/>
          </a:prstGeom>
          <a:noFill/>
          <a:ln/>
        </p:spPr>
        <p:txBody>
          <a:bodyPr wrap="none" lIns="0" tIns="0" rIns="0" bIns="0" rtlCol="0" anchor="t"/>
          <a:lstStyle/>
          <a:p>
            <a:pPr marL="0" indent="0" algn="l">
              <a:lnSpc>
                <a:spcPct val="133000"/>
              </a:lnSpc>
              <a:buNone/>
            </a:pPr>
            <a:r>
              <a:rPr lang="en-US" sz="1300" dirty="0">
                <a:solidFill>
                  <a:srgbClr val="443728"/>
                </a:solidFill>
                <a:latin typeface="Open Sans" pitchFamily="34" charset="0"/>
                <a:ea typeface="Open Sans" pitchFamily="34" charset="-122"/>
                <a:cs typeface="Open Sans" pitchFamily="34" charset="-120"/>
              </a:rPr>
              <a:t>Créer · Modifier · Supprimer</a:t>
            </a:r>
            <a:endParaRPr lang="en-US" sz="13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495" y="2400399"/>
            <a:ext cx="5351725" cy="1487091"/>
          </a:xfrm>
          <a:prstGeom prst="rect">
            <a:avLst/>
          </a:prstGeom>
        </p:spPr>
      </p:pic>
      <p:sp>
        <p:nvSpPr>
          <p:cNvPr id="10" name="Text 6"/>
          <p:cNvSpPr/>
          <p:nvPr/>
        </p:nvSpPr>
        <p:spPr>
          <a:xfrm>
            <a:off x="8730337" y="2509242"/>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443728"/>
                </a:solidFill>
                <a:latin typeface="Crimson Pro Bold" pitchFamily="34" charset="0"/>
                <a:ea typeface="Crimson Pro Bold" pitchFamily="34" charset="-122"/>
                <a:cs typeface="Crimson Pro Bold" pitchFamily="34" charset="-120"/>
              </a:rPr>
              <a:t>2</a:t>
            </a:r>
            <a:endParaRPr lang="en-US" sz="1950" dirty="0"/>
          </a:p>
        </p:txBody>
      </p:sp>
      <p:sp>
        <p:nvSpPr>
          <p:cNvPr id="11" name="Text 7"/>
          <p:cNvSpPr/>
          <p:nvPr/>
        </p:nvSpPr>
        <p:spPr>
          <a:xfrm>
            <a:off x="6362838" y="3080841"/>
            <a:ext cx="4983038" cy="258465"/>
          </a:xfrm>
          <a:prstGeom prst="rect">
            <a:avLst/>
          </a:prstGeom>
          <a:noFill/>
          <a:ln/>
        </p:spPr>
        <p:txBody>
          <a:bodyPr wrap="none" lIns="0" tIns="0" rIns="0" bIns="0" rtlCol="0" anchor="t"/>
          <a:lstStyle/>
          <a:p>
            <a:pPr marL="0" indent="0" algn="l">
              <a:lnSpc>
                <a:spcPct val="104000"/>
              </a:lnSpc>
              <a:buNone/>
            </a:pPr>
            <a:r>
              <a:rPr lang="en-US" sz="1600" b="1" dirty="0">
                <a:solidFill>
                  <a:srgbClr val="443728"/>
                </a:solidFill>
                <a:latin typeface="Crimson Pro Bold" pitchFamily="34" charset="0"/>
                <a:ea typeface="Crimson Pro Bold" pitchFamily="34" charset="-122"/>
                <a:cs typeface="Crimson Pro Bold" pitchFamily="34" charset="-120"/>
              </a:rPr>
              <a:t>Gestion des droits</a:t>
            </a:r>
            <a:endParaRPr lang="en-US" sz="1600" dirty="0"/>
          </a:p>
        </p:txBody>
      </p:sp>
      <p:sp>
        <p:nvSpPr>
          <p:cNvPr id="12" name="Text 8"/>
          <p:cNvSpPr/>
          <p:nvPr/>
        </p:nvSpPr>
        <p:spPr>
          <a:xfrm>
            <a:off x="6362838" y="3438525"/>
            <a:ext cx="4983038" cy="264616"/>
          </a:xfrm>
          <a:prstGeom prst="rect">
            <a:avLst/>
          </a:prstGeom>
          <a:noFill/>
          <a:ln/>
        </p:spPr>
        <p:txBody>
          <a:bodyPr wrap="none" lIns="0" tIns="0" rIns="0" bIns="0" rtlCol="0" anchor="t"/>
          <a:lstStyle/>
          <a:p>
            <a:pPr marL="0" indent="0" algn="l">
              <a:lnSpc>
                <a:spcPct val="133000"/>
              </a:lnSpc>
              <a:buNone/>
            </a:pPr>
            <a:r>
              <a:rPr lang="en-US" sz="1300" dirty="0">
                <a:solidFill>
                  <a:srgbClr val="443728"/>
                </a:solidFill>
                <a:latin typeface="Open Sans" pitchFamily="34" charset="0"/>
                <a:ea typeface="Open Sans" pitchFamily="34" charset="-122"/>
                <a:cs typeface="Open Sans" pitchFamily="34" charset="-120"/>
              </a:rPr>
              <a:t>Accès </a:t>
            </a:r>
            <a:r>
              <a:rPr lang="en-US" sz="1300" dirty="0" err="1">
                <a:solidFill>
                  <a:srgbClr val="443728"/>
                </a:solidFill>
                <a:latin typeface="Open Sans" pitchFamily="34" charset="0"/>
                <a:ea typeface="Open Sans" pitchFamily="34" charset="-122"/>
                <a:cs typeface="Open Sans" pitchFamily="34" charset="-120"/>
              </a:rPr>
              <a:t>apprentis</a:t>
            </a:r>
            <a:r>
              <a:rPr lang="en-US" sz="1300" dirty="0">
                <a:solidFill>
                  <a:srgbClr val="443728"/>
                </a:solidFill>
                <a:latin typeface="Open Sans" pitchFamily="34" charset="0"/>
                <a:ea typeface="Open Sans" pitchFamily="34" charset="-122"/>
                <a:cs typeface="Open Sans" pitchFamily="34" charset="-120"/>
              </a:rPr>
              <a:t> </a:t>
            </a:r>
            <a:endParaRPr lang="en-US" sz="130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02632" y="4019748"/>
            <a:ext cx="5351725" cy="1487091"/>
          </a:xfrm>
          <a:prstGeom prst="rect">
            <a:avLst/>
          </a:prstGeom>
        </p:spPr>
      </p:pic>
      <p:sp>
        <p:nvSpPr>
          <p:cNvPr id="14" name="Text 9"/>
          <p:cNvSpPr/>
          <p:nvPr/>
        </p:nvSpPr>
        <p:spPr>
          <a:xfrm>
            <a:off x="6054474" y="4128591"/>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443728"/>
                </a:solidFill>
                <a:latin typeface="Crimson Pro Bold" pitchFamily="34" charset="0"/>
                <a:ea typeface="Crimson Pro Bold" pitchFamily="34" charset="-122"/>
                <a:cs typeface="Crimson Pro Bold" pitchFamily="34" charset="-120"/>
              </a:rPr>
              <a:t>3</a:t>
            </a:r>
            <a:endParaRPr lang="en-US" sz="1950" dirty="0"/>
          </a:p>
        </p:txBody>
      </p:sp>
      <p:sp>
        <p:nvSpPr>
          <p:cNvPr id="15" name="Text 10"/>
          <p:cNvSpPr/>
          <p:nvPr/>
        </p:nvSpPr>
        <p:spPr>
          <a:xfrm>
            <a:off x="3686976" y="4700190"/>
            <a:ext cx="4983038" cy="258465"/>
          </a:xfrm>
          <a:prstGeom prst="rect">
            <a:avLst/>
          </a:prstGeom>
          <a:noFill/>
          <a:ln/>
        </p:spPr>
        <p:txBody>
          <a:bodyPr wrap="none" lIns="0" tIns="0" rIns="0" bIns="0" rtlCol="0" anchor="t"/>
          <a:lstStyle/>
          <a:p>
            <a:pPr marL="0" indent="0" algn="l">
              <a:lnSpc>
                <a:spcPct val="104000"/>
              </a:lnSpc>
              <a:buNone/>
            </a:pPr>
            <a:r>
              <a:rPr lang="en-US" sz="1600" b="1" dirty="0">
                <a:solidFill>
                  <a:srgbClr val="443728"/>
                </a:solidFill>
                <a:latin typeface="Crimson Pro Bold" pitchFamily="34" charset="0"/>
                <a:ea typeface="Crimson Pro Bold" pitchFamily="34" charset="-122"/>
                <a:cs typeface="Crimson Pro Bold" pitchFamily="34" charset="-120"/>
              </a:rPr>
              <a:t>Historique</a:t>
            </a:r>
            <a:endParaRPr lang="en-US" sz="1600" dirty="0"/>
          </a:p>
        </p:txBody>
      </p:sp>
      <p:sp>
        <p:nvSpPr>
          <p:cNvPr id="16" name="Text 11"/>
          <p:cNvSpPr/>
          <p:nvPr/>
        </p:nvSpPr>
        <p:spPr>
          <a:xfrm>
            <a:off x="3686976" y="5057874"/>
            <a:ext cx="4983038" cy="264616"/>
          </a:xfrm>
          <a:prstGeom prst="rect">
            <a:avLst/>
          </a:prstGeom>
          <a:noFill/>
          <a:ln/>
        </p:spPr>
        <p:txBody>
          <a:bodyPr wrap="none" lIns="0" tIns="0" rIns="0" bIns="0" rtlCol="0" anchor="t"/>
          <a:lstStyle/>
          <a:p>
            <a:pPr marL="0" indent="0" algn="l">
              <a:lnSpc>
                <a:spcPct val="133000"/>
              </a:lnSpc>
              <a:buNone/>
            </a:pPr>
            <a:r>
              <a:rPr lang="en-US" sz="1300" dirty="0">
                <a:solidFill>
                  <a:srgbClr val="443728"/>
                </a:solidFill>
                <a:latin typeface="Open Sans" pitchFamily="34" charset="0"/>
                <a:ea typeface="Open Sans" pitchFamily="34" charset="-122"/>
                <a:cs typeface="Open Sans" pitchFamily="34" charset="-120"/>
              </a:rPr>
              <a:t>Suivi des modifications</a:t>
            </a:r>
            <a:endParaRPr lang="en-US" sz="1300" dirty="0"/>
          </a:p>
        </p:txBody>
      </p:sp>
      <p:sp>
        <p:nvSpPr>
          <p:cNvPr id="18" name="Text 12"/>
          <p:cNvSpPr/>
          <p:nvPr/>
        </p:nvSpPr>
        <p:spPr>
          <a:xfrm>
            <a:off x="8730337" y="4161631"/>
            <a:ext cx="248041" cy="310059"/>
          </a:xfrm>
          <a:prstGeom prst="rect">
            <a:avLst/>
          </a:prstGeom>
          <a:noFill/>
          <a:ln/>
        </p:spPr>
        <p:txBody>
          <a:bodyPr wrap="none" lIns="0" tIns="0" rIns="0" bIns="0" rtlCol="0" anchor="ctr"/>
          <a:lstStyle/>
          <a:p>
            <a:pPr marL="0" indent="0" algn="ctr">
              <a:lnSpc>
                <a:spcPct val="100000"/>
              </a:lnSpc>
              <a:buNone/>
            </a:pPr>
            <a:endParaRPr lang="en-US" sz="1950" dirty="0"/>
          </a:p>
        </p:txBody>
      </p:sp>
      <p:pic>
        <p:nvPicPr>
          <p:cNvPr id="21" name="Image 20">
            <a:extLst>
              <a:ext uri="{FF2B5EF4-FFF2-40B4-BE49-F238E27FC236}">
                <a16:creationId xmlns:a16="http://schemas.microsoft.com/office/drawing/2014/main" id="{7D9800C8-BA5B-9946-C698-16B0D7D8DF98}"/>
              </a:ext>
            </a:extLst>
          </p:cNvPr>
          <p:cNvPicPr>
            <a:picLocks noChangeAspect="1"/>
          </p:cNvPicPr>
          <p:nvPr/>
        </p:nvPicPr>
        <p:blipFill>
          <a:blip r:embed="rId4"/>
          <a:stretch>
            <a:fillRect/>
          </a:stretch>
        </p:blipFill>
        <p:spPr>
          <a:xfrm>
            <a:off x="10147300" y="6299200"/>
            <a:ext cx="2044700" cy="558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1318121"/>
            <a:ext cx="1106857" cy="251420"/>
          </a:xfrm>
          <a:prstGeom prst="roundRect">
            <a:avLst>
              <a:gd name="adj" fmla="val 22103"/>
            </a:avLst>
          </a:prstGeom>
          <a:noFill/>
          <a:ln w="6350">
            <a:solidFill>
              <a:srgbClr val="835E54"/>
            </a:solidFill>
            <a:prstDash val="solid"/>
          </a:ln>
        </p:spPr>
        <p:txBody>
          <a:bodyPr/>
          <a:lstStyle/>
          <a:p>
            <a:endParaRPr lang="fr-FR"/>
          </a:p>
        </p:txBody>
      </p:sp>
      <p:sp>
        <p:nvSpPr>
          <p:cNvPr id="3" name="Text 1"/>
          <p:cNvSpPr/>
          <p:nvPr/>
        </p:nvSpPr>
        <p:spPr>
          <a:xfrm>
            <a:off x="760691" y="1367730"/>
            <a:ext cx="1518009" cy="152202"/>
          </a:xfrm>
          <a:prstGeom prst="rect">
            <a:avLst/>
          </a:prstGeom>
          <a:noFill/>
          <a:ln/>
        </p:spPr>
        <p:txBody>
          <a:bodyPr wrap="none" lIns="0" tIns="0" rIns="0" bIns="0" rtlCol="0" anchor="t"/>
          <a:lstStyle/>
          <a:p>
            <a:pPr marL="0" indent="0" algn="l">
              <a:lnSpc>
                <a:spcPct val="96000"/>
              </a:lnSpc>
              <a:buNone/>
            </a:pPr>
            <a:r>
              <a:rPr lang="en-US" sz="1000" dirty="0">
                <a:solidFill>
                  <a:srgbClr val="835E54"/>
                </a:solidFill>
                <a:latin typeface="Open Sans" pitchFamily="34" charset="0"/>
                <a:ea typeface="Open Sans" pitchFamily="34" charset="-122"/>
                <a:cs typeface="Open Sans" pitchFamily="34" charset="-120"/>
              </a:rPr>
              <a:t>FONCTIONNEL</a:t>
            </a:r>
            <a:endParaRPr lang="en-US" sz="1000" dirty="0"/>
          </a:p>
        </p:txBody>
      </p:sp>
      <p:sp>
        <p:nvSpPr>
          <p:cNvPr id="4" name="Text 2"/>
          <p:cNvSpPr/>
          <p:nvPr/>
        </p:nvSpPr>
        <p:spPr>
          <a:xfrm>
            <a:off x="661475" y="1635621"/>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443728"/>
                </a:solidFill>
                <a:latin typeface="Crimson Pro Bold" pitchFamily="34" charset="0"/>
                <a:ea typeface="Crimson Pro Bold" pitchFamily="34" charset="-122"/>
                <a:cs typeface="Crimson Pro Bold" pitchFamily="34" charset="-120"/>
              </a:rPr>
              <a:t>Besoins </a:t>
            </a:r>
            <a:r>
              <a:rPr lang="en-US" sz="3250" b="1" dirty="0" err="1">
                <a:solidFill>
                  <a:srgbClr val="443728"/>
                </a:solidFill>
                <a:latin typeface="Crimson Pro Bold" pitchFamily="34" charset="0"/>
                <a:ea typeface="Crimson Pro Bold" pitchFamily="34" charset="-122"/>
                <a:cs typeface="Crimson Pro Bold" pitchFamily="34" charset="-120"/>
              </a:rPr>
              <a:t>fonctionnels</a:t>
            </a:r>
            <a:r>
              <a:rPr lang="en-US" sz="3250" b="1" dirty="0">
                <a:solidFill>
                  <a:srgbClr val="443728"/>
                </a:solidFill>
                <a:latin typeface="Crimson Pro Bold" pitchFamily="34" charset="0"/>
                <a:ea typeface="Crimson Pro Bold" pitchFamily="34" charset="-122"/>
                <a:cs typeface="Crimson Pro Bold" pitchFamily="34" charset="-120"/>
              </a:rPr>
              <a:t> </a:t>
            </a:r>
            <a:r>
              <a:rPr lang="en-US" sz="3250" b="1" dirty="0" err="1">
                <a:solidFill>
                  <a:srgbClr val="443728"/>
                </a:solidFill>
                <a:latin typeface="Crimson Pro Bold" pitchFamily="34" charset="0"/>
                <a:ea typeface="Crimson Pro Bold" pitchFamily="34" charset="-122"/>
                <a:cs typeface="Crimson Pro Bold" pitchFamily="34" charset="-120"/>
              </a:rPr>
              <a:t>Apprenti</a:t>
            </a:r>
            <a:endParaRPr lang="en-US" sz="32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400399"/>
            <a:ext cx="5351725" cy="1487091"/>
          </a:xfrm>
          <a:prstGeom prst="rect">
            <a:avLst/>
          </a:prstGeom>
        </p:spPr>
      </p:pic>
      <p:sp>
        <p:nvSpPr>
          <p:cNvPr id="6" name="Text 3"/>
          <p:cNvSpPr/>
          <p:nvPr/>
        </p:nvSpPr>
        <p:spPr>
          <a:xfrm>
            <a:off x="3213317" y="2509242"/>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443728"/>
                </a:solidFill>
                <a:latin typeface="Crimson Pro Bold" pitchFamily="34" charset="0"/>
                <a:ea typeface="Crimson Pro Bold" pitchFamily="34" charset="-122"/>
                <a:cs typeface="Crimson Pro Bold" pitchFamily="34" charset="-120"/>
              </a:rPr>
              <a:t>1</a:t>
            </a:r>
            <a:endParaRPr lang="en-US" sz="1950" dirty="0"/>
          </a:p>
        </p:txBody>
      </p:sp>
      <p:sp>
        <p:nvSpPr>
          <p:cNvPr id="7" name="Text 4"/>
          <p:cNvSpPr/>
          <p:nvPr/>
        </p:nvSpPr>
        <p:spPr>
          <a:xfrm>
            <a:off x="845819" y="3080841"/>
            <a:ext cx="4983038" cy="258465"/>
          </a:xfrm>
          <a:prstGeom prst="rect">
            <a:avLst/>
          </a:prstGeom>
          <a:noFill/>
          <a:ln/>
        </p:spPr>
        <p:txBody>
          <a:bodyPr wrap="none" lIns="0" tIns="0" rIns="0" bIns="0" rtlCol="0" anchor="t"/>
          <a:lstStyle/>
          <a:p>
            <a:pPr marL="0" indent="0" algn="l">
              <a:lnSpc>
                <a:spcPct val="104000"/>
              </a:lnSpc>
              <a:buNone/>
            </a:pPr>
            <a:r>
              <a:rPr lang="en-US" sz="1600" b="1" dirty="0">
                <a:solidFill>
                  <a:srgbClr val="443728"/>
                </a:solidFill>
                <a:latin typeface="Crimson Pro Bold" pitchFamily="34" charset="0"/>
                <a:ea typeface="Crimson Pro Bold" pitchFamily="34" charset="-122"/>
                <a:cs typeface="Crimson Pro Bold" pitchFamily="34" charset="-120"/>
              </a:rPr>
              <a:t>Consultation</a:t>
            </a:r>
            <a:endParaRPr lang="en-US" sz="1600" dirty="0"/>
          </a:p>
        </p:txBody>
      </p:sp>
      <p:sp>
        <p:nvSpPr>
          <p:cNvPr id="8" name="Text 5"/>
          <p:cNvSpPr/>
          <p:nvPr/>
        </p:nvSpPr>
        <p:spPr>
          <a:xfrm>
            <a:off x="845819" y="3438525"/>
            <a:ext cx="4983038" cy="264616"/>
          </a:xfrm>
          <a:prstGeom prst="rect">
            <a:avLst/>
          </a:prstGeom>
          <a:noFill/>
          <a:ln/>
        </p:spPr>
        <p:txBody>
          <a:bodyPr wrap="none" lIns="0" tIns="0" rIns="0" bIns="0" rtlCol="0" anchor="t"/>
          <a:lstStyle/>
          <a:p>
            <a:pPr marL="0" indent="0" algn="l">
              <a:lnSpc>
                <a:spcPct val="133000"/>
              </a:lnSpc>
              <a:buNone/>
            </a:pPr>
            <a:r>
              <a:rPr lang="en-US" sz="1300" dirty="0">
                <a:solidFill>
                  <a:srgbClr val="443728"/>
                </a:solidFill>
                <a:latin typeface="Open Sans" pitchFamily="34" charset="0"/>
                <a:ea typeface="Open Sans" pitchFamily="34" charset="-122"/>
                <a:cs typeface="Open Sans" pitchFamily="34" charset="-120"/>
              </a:rPr>
              <a:t>Documentation technique</a:t>
            </a:r>
            <a:endParaRPr lang="en-US" sz="13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495" y="2400399"/>
            <a:ext cx="5351725" cy="1487091"/>
          </a:xfrm>
          <a:prstGeom prst="rect">
            <a:avLst/>
          </a:prstGeom>
        </p:spPr>
      </p:pic>
      <p:sp>
        <p:nvSpPr>
          <p:cNvPr id="10" name="Text 6"/>
          <p:cNvSpPr/>
          <p:nvPr/>
        </p:nvSpPr>
        <p:spPr>
          <a:xfrm>
            <a:off x="8730337" y="2509242"/>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443728"/>
                </a:solidFill>
                <a:latin typeface="Crimson Pro Bold" pitchFamily="34" charset="0"/>
                <a:ea typeface="Crimson Pro Bold" pitchFamily="34" charset="-122"/>
                <a:cs typeface="Crimson Pro Bold" pitchFamily="34" charset="-120"/>
              </a:rPr>
              <a:t>2</a:t>
            </a:r>
            <a:endParaRPr lang="en-US" sz="1950" dirty="0"/>
          </a:p>
        </p:txBody>
      </p:sp>
      <p:sp>
        <p:nvSpPr>
          <p:cNvPr id="11" name="Text 7"/>
          <p:cNvSpPr/>
          <p:nvPr/>
        </p:nvSpPr>
        <p:spPr>
          <a:xfrm>
            <a:off x="6362838" y="3080841"/>
            <a:ext cx="4983038" cy="258465"/>
          </a:xfrm>
          <a:prstGeom prst="rect">
            <a:avLst/>
          </a:prstGeom>
          <a:noFill/>
          <a:ln/>
        </p:spPr>
        <p:txBody>
          <a:bodyPr wrap="none" lIns="0" tIns="0" rIns="0" bIns="0" rtlCol="0" anchor="t"/>
          <a:lstStyle/>
          <a:p>
            <a:pPr marL="0" indent="0" algn="l">
              <a:lnSpc>
                <a:spcPct val="104000"/>
              </a:lnSpc>
              <a:buNone/>
            </a:pPr>
            <a:r>
              <a:rPr lang="en-US" sz="1600" b="1" dirty="0">
                <a:solidFill>
                  <a:srgbClr val="443728"/>
                </a:solidFill>
                <a:latin typeface="Crimson Pro Bold" pitchFamily="34" charset="0"/>
                <a:ea typeface="Crimson Pro Bold" pitchFamily="34" charset="-122"/>
                <a:cs typeface="Crimson Pro Bold" pitchFamily="34" charset="-120"/>
              </a:rPr>
              <a:t>Recherche</a:t>
            </a:r>
            <a:endParaRPr lang="en-US" sz="1600" dirty="0"/>
          </a:p>
        </p:txBody>
      </p:sp>
      <p:sp>
        <p:nvSpPr>
          <p:cNvPr id="12" name="Text 8"/>
          <p:cNvSpPr/>
          <p:nvPr/>
        </p:nvSpPr>
        <p:spPr>
          <a:xfrm>
            <a:off x="6362838" y="3438525"/>
            <a:ext cx="4983038" cy="264616"/>
          </a:xfrm>
          <a:prstGeom prst="rect">
            <a:avLst/>
          </a:prstGeom>
          <a:noFill/>
          <a:ln/>
        </p:spPr>
        <p:txBody>
          <a:bodyPr wrap="none" lIns="0" tIns="0" rIns="0" bIns="0" rtlCol="0" anchor="t"/>
          <a:lstStyle/>
          <a:p>
            <a:pPr marL="0" indent="0" algn="l">
              <a:lnSpc>
                <a:spcPct val="133000"/>
              </a:lnSpc>
              <a:buNone/>
            </a:pPr>
            <a:r>
              <a:rPr lang="en-US" sz="1300" dirty="0">
                <a:solidFill>
                  <a:srgbClr val="443728"/>
                </a:solidFill>
                <a:latin typeface="Open Sans" pitchFamily="34" charset="0"/>
                <a:ea typeface="Open Sans" pitchFamily="34" charset="-122"/>
                <a:cs typeface="Open Sans" pitchFamily="34" charset="-120"/>
              </a:rPr>
              <a:t>Module · Mot-clé</a:t>
            </a:r>
            <a:endParaRPr lang="en-US" sz="130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052788"/>
            <a:ext cx="5351725" cy="1487091"/>
          </a:xfrm>
          <a:prstGeom prst="rect">
            <a:avLst/>
          </a:prstGeom>
        </p:spPr>
      </p:pic>
      <p:sp>
        <p:nvSpPr>
          <p:cNvPr id="14" name="Text 9"/>
          <p:cNvSpPr/>
          <p:nvPr/>
        </p:nvSpPr>
        <p:spPr>
          <a:xfrm>
            <a:off x="3213317" y="4161631"/>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443728"/>
                </a:solidFill>
                <a:latin typeface="Crimson Pro Bold" pitchFamily="34" charset="0"/>
                <a:ea typeface="Crimson Pro Bold" pitchFamily="34" charset="-122"/>
                <a:cs typeface="Crimson Pro Bold" pitchFamily="34" charset="-120"/>
              </a:rPr>
              <a:t>3</a:t>
            </a:r>
            <a:endParaRPr lang="en-US" sz="1950" dirty="0"/>
          </a:p>
        </p:txBody>
      </p:sp>
      <p:sp>
        <p:nvSpPr>
          <p:cNvPr id="15" name="Text 10"/>
          <p:cNvSpPr/>
          <p:nvPr/>
        </p:nvSpPr>
        <p:spPr>
          <a:xfrm>
            <a:off x="845819" y="4733230"/>
            <a:ext cx="4983038" cy="258465"/>
          </a:xfrm>
          <a:prstGeom prst="rect">
            <a:avLst/>
          </a:prstGeom>
          <a:noFill/>
          <a:ln/>
        </p:spPr>
        <p:txBody>
          <a:bodyPr wrap="none" lIns="0" tIns="0" rIns="0" bIns="0" rtlCol="0" anchor="t"/>
          <a:lstStyle/>
          <a:p>
            <a:pPr marL="0" indent="0" algn="l">
              <a:lnSpc>
                <a:spcPct val="104000"/>
              </a:lnSpc>
              <a:buNone/>
            </a:pPr>
            <a:r>
              <a:rPr lang="en-US" sz="1600" b="1" dirty="0">
                <a:solidFill>
                  <a:srgbClr val="443728"/>
                </a:solidFill>
                <a:latin typeface="Crimson Pro Bold" pitchFamily="34" charset="0"/>
                <a:ea typeface="Crimson Pro Bold" pitchFamily="34" charset="-122"/>
                <a:cs typeface="Crimson Pro Bold" pitchFamily="34" charset="-120"/>
              </a:rPr>
              <a:t>Ressources</a:t>
            </a:r>
            <a:endParaRPr lang="en-US" sz="1600" dirty="0"/>
          </a:p>
        </p:txBody>
      </p:sp>
      <p:sp>
        <p:nvSpPr>
          <p:cNvPr id="16" name="Text 11"/>
          <p:cNvSpPr/>
          <p:nvPr/>
        </p:nvSpPr>
        <p:spPr>
          <a:xfrm>
            <a:off x="845819" y="5090914"/>
            <a:ext cx="4983038" cy="264616"/>
          </a:xfrm>
          <a:prstGeom prst="rect">
            <a:avLst/>
          </a:prstGeom>
          <a:noFill/>
          <a:ln/>
        </p:spPr>
        <p:txBody>
          <a:bodyPr wrap="none" lIns="0" tIns="0" rIns="0" bIns="0" rtlCol="0" anchor="t"/>
          <a:lstStyle/>
          <a:p>
            <a:pPr marL="0" indent="0" algn="l">
              <a:lnSpc>
                <a:spcPct val="133000"/>
              </a:lnSpc>
              <a:buNone/>
            </a:pPr>
            <a:r>
              <a:rPr lang="en-US" sz="1300" dirty="0">
                <a:solidFill>
                  <a:srgbClr val="443728"/>
                </a:solidFill>
                <a:latin typeface="Open Sans" pitchFamily="34" charset="0"/>
                <a:ea typeface="Open Sans" pitchFamily="34" charset="-122"/>
                <a:cs typeface="Open Sans" pitchFamily="34" charset="-120"/>
              </a:rPr>
              <a:t>Schémas · Fichiers associés</a:t>
            </a:r>
            <a:endParaRPr lang="en-US" sz="1300"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495" y="4052788"/>
            <a:ext cx="5351725" cy="1487091"/>
          </a:xfrm>
          <a:prstGeom prst="rect">
            <a:avLst/>
          </a:prstGeom>
        </p:spPr>
      </p:pic>
      <p:sp>
        <p:nvSpPr>
          <p:cNvPr id="18" name="Text 12"/>
          <p:cNvSpPr/>
          <p:nvPr/>
        </p:nvSpPr>
        <p:spPr>
          <a:xfrm>
            <a:off x="8730337" y="4161631"/>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443728"/>
                </a:solidFill>
                <a:latin typeface="Crimson Pro Bold" pitchFamily="34" charset="0"/>
                <a:ea typeface="Crimson Pro Bold" pitchFamily="34" charset="-122"/>
                <a:cs typeface="Crimson Pro Bold" pitchFamily="34" charset="-120"/>
              </a:rPr>
              <a:t>4</a:t>
            </a:r>
            <a:endParaRPr lang="en-US" sz="1950" dirty="0"/>
          </a:p>
        </p:txBody>
      </p:sp>
      <p:sp>
        <p:nvSpPr>
          <p:cNvPr id="19" name="Text 13"/>
          <p:cNvSpPr/>
          <p:nvPr/>
        </p:nvSpPr>
        <p:spPr>
          <a:xfrm>
            <a:off x="6362838" y="4733230"/>
            <a:ext cx="4983038" cy="258465"/>
          </a:xfrm>
          <a:prstGeom prst="rect">
            <a:avLst/>
          </a:prstGeom>
          <a:noFill/>
          <a:ln/>
        </p:spPr>
        <p:txBody>
          <a:bodyPr wrap="none" lIns="0" tIns="0" rIns="0" bIns="0" rtlCol="0" anchor="t"/>
          <a:lstStyle/>
          <a:p>
            <a:pPr marL="0" indent="0" algn="l">
              <a:lnSpc>
                <a:spcPct val="104000"/>
              </a:lnSpc>
              <a:buNone/>
            </a:pPr>
            <a:r>
              <a:rPr lang="en-US" sz="1600" b="1" dirty="0">
                <a:solidFill>
                  <a:srgbClr val="443728"/>
                </a:solidFill>
                <a:latin typeface="Crimson Pro Bold" pitchFamily="34" charset="0"/>
                <a:ea typeface="Crimson Pro Bold" pitchFamily="34" charset="-122"/>
                <a:cs typeface="Crimson Pro Bold" pitchFamily="34" charset="-120"/>
              </a:rPr>
              <a:t>Authentification</a:t>
            </a:r>
            <a:endParaRPr lang="en-US" sz="1600" dirty="0"/>
          </a:p>
        </p:txBody>
      </p:sp>
      <p:sp>
        <p:nvSpPr>
          <p:cNvPr id="20" name="Text 14"/>
          <p:cNvSpPr/>
          <p:nvPr/>
        </p:nvSpPr>
        <p:spPr>
          <a:xfrm>
            <a:off x="6362838" y="5090914"/>
            <a:ext cx="4983038" cy="264616"/>
          </a:xfrm>
          <a:prstGeom prst="rect">
            <a:avLst/>
          </a:prstGeom>
          <a:noFill/>
          <a:ln/>
        </p:spPr>
        <p:txBody>
          <a:bodyPr wrap="none" lIns="0" tIns="0" rIns="0" bIns="0" rtlCol="0" anchor="t"/>
          <a:lstStyle/>
          <a:p>
            <a:pPr marL="0" indent="0" algn="l">
              <a:lnSpc>
                <a:spcPct val="133000"/>
              </a:lnSpc>
              <a:buNone/>
            </a:pPr>
            <a:r>
              <a:rPr lang="en-US" sz="1300" dirty="0">
                <a:solidFill>
                  <a:srgbClr val="443728"/>
                </a:solidFill>
                <a:latin typeface="Open Sans" pitchFamily="34" charset="0"/>
                <a:ea typeface="Open Sans" pitchFamily="34" charset="-122"/>
                <a:cs typeface="Open Sans" pitchFamily="34" charset="-120"/>
              </a:rPr>
              <a:t>Session sécurisée</a:t>
            </a:r>
            <a:endParaRPr lang="en-US" sz="1300" dirty="0"/>
          </a:p>
        </p:txBody>
      </p:sp>
      <p:pic>
        <p:nvPicPr>
          <p:cNvPr id="21" name="Image 20">
            <a:extLst>
              <a:ext uri="{FF2B5EF4-FFF2-40B4-BE49-F238E27FC236}">
                <a16:creationId xmlns:a16="http://schemas.microsoft.com/office/drawing/2014/main" id="{BB01F31A-F916-D14E-A3D9-65EE796534F0}"/>
              </a:ext>
            </a:extLst>
          </p:cNvPr>
          <p:cNvPicPr>
            <a:picLocks noChangeAspect="1"/>
          </p:cNvPicPr>
          <p:nvPr/>
        </p:nvPicPr>
        <p:blipFill>
          <a:blip r:embed="rId4"/>
          <a:stretch>
            <a:fillRect/>
          </a:stretch>
        </p:blipFill>
        <p:spPr>
          <a:xfrm>
            <a:off x="10147300" y="6299200"/>
            <a:ext cx="2044700" cy="558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2389287"/>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443728"/>
                </a:solidFill>
                <a:latin typeface="Crimson Pro Bold" pitchFamily="34" charset="0"/>
                <a:ea typeface="Crimson Pro Bold" pitchFamily="34" charset="-122"/>
                <a:cs typeface="Crimson Pro Bold" pitchFamily="34" charset="-120"/>
              </a:rPr>
              <a:t>Choix techniques</a:t>
            </a:r>
            <a:endParaRPr lang="en-US" sz="3250" dirty="0"/>
          </a:p>
        </p:txBody>
      </p:sp>
      <p:sp>
        <p:nvSpPr>
          <p:cNvPr id="3" name="Text 1"/>
          <p:cNvSpPr/>
          <p:nvPr/>
        </p:nvSpPr>
        <p:spPr>
          <a:xfrm>
            <a:off x="661475" y="3236714"/>
            <a:ext cx="10868745" cy="1231999"/>
          </a:xfrm>
          <a:prstGeom prst="rect">
            <a:avLst/>
          </a:prstGeom>
          <a:noFill/>
          <a:ln/>
        </p:spPr>
        <p:txBody>
          <a:bodyPr wrap="square" lIns="0" tIns="66156" rIns="0" bIns="0" rtlCol="0" anchor="t">
            <a:normAutofit/>
          </a:bodyPr>
          <a:lstStyle/>
          <a:p>
            <a:pPr marL="264160" indent="-264160" algn="l">
              <a:lnSpc>
                <a:spcPct val="133000"/>
              </a:lnSpc>
              <a:buSzPct val="100000"/>
              <a:buChar char="•"/>
            </a:pPr>
            <a:r>
              <a:rPr lang="en-US" sz="1300" b="1" dirty="0">
                <a:solidFill>
                  <a:srgbClr val="443728"/>
                </a:solidFill>
                <a:latin typeface="Open Sans Bold" pitchFamily="34" charset="0"/>
                <a:ea typeface="Open Sans Bold" pitchFamily="34" charset="-122"/>
                <a:cs typeface="Open Sans Bold" pitchFamily="34" charset="-120"/>
              </a:rPr>
              <a:t>Backend :</a:t>
            </a:r>
            <a:r>
              <a:rPr lang="en-US" sz="1300" dirty="0">
                <a:solidFill>
                  <a:srgbClr val="443728"/>
                </a:solidFill>
                <a:latin typeface="Open Sans" pitchFamily="34" charset="0"/>
                <a:ea typeface="Open Sans" pitchFamily="34" charset="-122"/>
                <a:cs typeface="Open Sans" pitchFamily="34" charset="-120"/>
              </a:rPr>
              <a:t> Python / Flask</a:t>
            </a:r>
            <a:endParaRPr lang="en-US" sz="1300" dirty="0"/>
          </a:p>
          <a:p>
            <a:pPr marL="264160" indent="-264160" algn="l">
              <a:lnSpc>
                <a:spcPct val="133000"/>
              </a:lnSpc>
              <a:buSzPct val="100000"/>
              <a:buChar char="•"/>
            </a:pPr>
            <a:r>
              <a:rPr lang="en-US" sz="1300" b="1" dirty="0">
                <a:solidFill>
                  <a:srgbClr val="443728"/>
                </a:solidFill>
                <a:latin typeface="Open Sans Bold" pitchFamily="34" charset="0"/>
                <a:ea typeface="Open Sans Bold" pitchFamily="34" charset="-122"/>
                <a:cs typeface="Open Sans Bold" pitchFamily="34" charset="-120"/>
              </a:rPr>
              <a:t>Base de données :</a:t>
            </a:r>
            <a:r>
              <a:rPr lang="en-US" sz="1300" dirty="0">
                <a:solidFill>
                  <a:srgbClr val="443728"/>
                </a:solidFill>
                <a:latin typeface="Open Sans" pitchFamily="34" charset="0"/>
                <a:ea typeface="Open Sans" pitchFamily="34" charset="-122"/>
                <a:cs typeface="Open Sans" pitchFamily="34" charset="-120"/>
              </a:rPr>
              <a:t> MariaDB</a:t>
            </a:r>
            <a:endParaRPr lang="en-US" sz="1300" dirty="0"/>
          </a:p>
          <a:p>
            <a:pPr marL="264160" indent="-264160" algn="l">
              <a:lnSpc>
                <a:spcPct val="133000"/>
              </a:lnSpc>
              <a:buSzPct val="100000"/>
              <a:buChar char="•"/>
            </a:pPr>
            <a:r>
              <a:rPr lang="en-US" sz="1300" b="1" dirty="0">
                <a:solidFill>
                  <a:srgbClr val="443728"/>
                </a:solidFill>
                <a:latin typeface="Open Sans Bold" pitchFamily="34" charset="0"/>
                <a:ea typeface="Open Sans Bold" pitchFamily="34" charset="-122"/>
                <a:cs typeface="Open Sans Bold" pitchFamily="34" charset="-120"/>
              </a:rPr>
              <a:t>Architecture :</a:t>
            </a:r>
            <a:r>
              <a:rPr lang="en-US" sz="1300" dirty="0">
                <a:solidFill>
                  <a:srgbClr val="443728"/>
                </a:solidFill>
                <a:latin typeface="Open Sans" pitchFamily="34" charset="0"/>
                <a:ea typeface="Open Sans" pitchFamily="34" charset="-122"/>
                <a:cs typeface="Open Sans" pitchFamily="34" charset="-120"/>
              </a:rPr>
              <a:t> Serveur unique (réseau local)</a:t>
            </a:r>
            <a:endParaRPr lang="en-US" sz="1300" dirty="0"/>
          </a:p>
          <a:p>
            <a:pPr marL="264160" indent="-264160" algn="l">
              <a:lnSpc>
                <a:spcPct val="133000"/>
              </a:lnSpc>
              <a:buSzPct val="100000"/>
              <a:buChar char="•"/>
            </a:pPr>
            <a:r>
              <a:rPr lang="en-US" sz="1300" b="1" dirty="0">
                <a:solidFill>
                  <a:srgbClr val="443728"/>
                </a:solidFill>
                <a:latin typeface="Open Sans Bold" pitchFamily="34" charset="0"/>
                <a:ea typeface="Open Sans Bold" pitchFamily="34" charset="-122"/>
                <a:cs typeface="Open Sans Bold" pitchFamily="34" charset="-120"/>
              </a:rPr>
              <a:t>Authentification :</a:t>
            </a:r>
            <a:r>
              <a:rPr lang="en-US" sz="1300" dirty="0">
                <a:solidFill>
                  <a:srgbClr val="443728"/>
                </a:solidFill>
                <a:latin typeface="Open Sans" pitchFamily="34" charset="0"/>
                <a:ea typeface="Open Sans" pitchFamily="34" charset="-122"/>
                <a:cs typeface="Open Sans" pitchFamily="34" charset="-120"/>
              </a:rPr>
              <a:t> Sessions sécurisées</a:t>
            </a:r>
            <a:endParaRPr lang="en-US" sz="1300" dirty="0"/>
          </a:p>
        </p:txBody>
      </p:sp>
      <p:pic>
        <p:nvPicPr>
          <p:cNvPr id="4" name="Image 3">
            <a:extLst>
              <a:ext uri="{FF2B5EF4-FFF2-40B4-BE49-F238E27FC236}">
                <a16:creationId xmlns:a16="http://schemas.microsoft.com/office/drawing/2014/main" id="{5D0FFFF2-8EF5-0190-44F9-A79E025BD184}"/>
              </a:ext>
            </a:extLst>
          </p:cNvPr>
          <p:cNvPicPr>
            <a:picLocks noChangeAspect="1"/>
          </p:cNvPicPr>
          <p:nvPr/>
        </p:nvPicPr>
        <p:blipFill>
          <a:blip r:embed="rId3"/>
          <a:stretch>
            <a:fillRect/>
          </a:stretch>
        </p:blipFill>
        <p:spPr>
          <a:xfrm>
            <a:off x="10147300" y="6299200"/>
            <a:ext cx="2044700" cy="558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066826"/>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443728"/>
                </a:solidFill>
                <a:latin typeface="Crimson Pro Bold" pitchFamily="34" charset="0"/>
                <a:ea typeface="Crimson Pro Bold" pitchFamily="34" charset="-122"/>
                <a:cs typeface="Crimson Pro Bold" pitchFamily="34" charset="-120"/>
              </a:rPr>
              <a:t>Contraintes imposées</a:t>
            </a:r>
            <a:endParaRPr lang="en-US" sz="3250" dirty="0"/>
          </a:p>
        </p:txBody>
      </p:sp>
      <p:sp>
        <p:nvSpPr>
          <p:cNvPr id="3" name="Text 1"/>
          <p:cNvSpPr/>
          <p:nvPr/>
        </p:nvSpPr>
        <p:spPr>
          <a:xfrm>
            <a:off x="661475" y="2914253"/>
            <a:ext cx="10868745" cy="1876921"/>
          </a:xfrm>
          <a:prstGeom prst="rect">
            <a:avLst/>
          </a:prstGeom>
          <a:noFill/>
          <a:ln/>
        </p:spPr>
        <p:txBody>
          <a:bodyPr wrap="square" lIns="0" tIns="66156" rIns="0" bIns="0" rtlCol="0" anchor="t">
            <a:normAutofit/>
          </a:bodyPr>
          <a:lstStyle/>
          <a:p>
            <a:pPr algn="l">
              <a:lnSpc>
                <a:spcPct val="133000"/>
              </a:lnSpc>
              <a:buSzPct val="100000"/>
            </a:pPr>
            <a:endParaRPr lang="en-US" sz="1300" dirty="0"/>
          </a:p>
          <a:p>
            <a:pPr marL="264160" indent="-264160" algn="l">
              <a:lnSpc>
                <a:spcPct val="133000"/>
              </a:lnSpc>
              <a:buSzPct val="100000"/>
              <a:buChar char="•"/>
            </a:pPr>
            <a:r>
              <a:rPr lang="en-US" sz="1300" dirty="0">
                <a:solidFill>
                  <a:srgbClr val="443728"/>
                </a:solidFill>
                <a:latin typeface="Open Sans" pitchFamily="34" charset="0"/>
                <a:ea typeface="Open Sans" pitchFamily="34" charset="-122"/>
                <a:cs typeface="Open Sans" pitchFamily="34" charset="-120"/>
              </a:rPr>
              <a:t>Versionning Git obligatoire</a:t>
            </a:r>
            <a:endParaRPr lang="en-US" sz="1300" dirty="0"/>
          </a:p>
          <a:p>
            <a:pPr marL="264160" indent="-264160" algn="l">
              <a:lnSpc>
                <a:spcPct val="133000"/>
              </a:lnSpc>
              <a:buSzPct val="100000"/>
              <a:buChar char="•"/>
            </a:pPr>
            <a:r>
              <a:rPr lang="en-US" sz="1300" dirty="0">
                <a:solidFill>
                  <a:srgbClr val="443728"/>
                </a:solidFill>
                <a:latin typeface="Open Sans" pitchFamily="34" charset="0"/>
                <a:ea typeface="Open Sans" pitchFamily="34" charset="-122"/>
                <a:cs typeface="Open Sans" pitchFamily="34" charset="-120"/>
              </a:rPr>
              <a:t>Déploiement sur réseau local uniquement</a:t>
            </a:r>
            <a:endParaRPr lang="en-US" sz="1300" dirty="0"/>
          </a:p>
          <a:p>
            <a:pPr marL="264160" indent="-264160" algn="l">
              <a:lnSpc>
                <a:spcPct val="133000"/>
              </a:lnSpc>
              <a:buSzPct val="100000"/>
              <a:buChar char="•"/>
            </a:pPr>
            <a:r>
              <a:rPr lang="en-US" sz="1300" dirty="0">
                <a:solidFill>
                  <a:srgbClr val="443728"/>
                </a:solidFill>
                <a:latin typeface="Open Sans" pitchFamily="34" charset="0"/>
                <a:ea typeface="Open Sans" pitchFamily="34" charset="-122"/>
                <a:cs typeface="Open Sans" pitchFamily="34" charset="-120"/>
              </a:rPr>
              <a:t>Authentification et chiffrement requis</a:t>
            </a:r>
            <a:endParaRPr lang="en-US" sz="1300" dirty="0"/>
          </a:p>
          <a:p>
            <a:pPr marL="264160" indent="-264160" algn="l">
              <a:lnSpc>
                <a:spcPct val="133000"/>
              </a:lnSpc>
              <a:buSzPct val="100000"/>
              <a:buChar char="•"/>
            </a:pPr>
            <a:r>
              <a:rPr lang="en-US" sz="1300" dirty="0">
                <a:solidFill>
                  <a:srgbClr val="443728"/>
                </a:solidFill>
                <a:latin typeface="Open Sans" pitchFamily="34" charset="0"/>
                <a:ea typeface="Open Sans" pitchFamily="34" charset="-122"/>
                <a:cs typeface="Open Sans" pitchFamily="34" charset="-120"/>
              </a:rPr>
              <a:t>Documentation technique complète</a:t>
            </a:r>
            <a:endParaRPr lang="en-US" sz="1300" dirty="0"/>
          </a:p>
          <a:p>
            <a:pPr marL="264160" indent="-264160" algn="l">
              <a:lnSpc>
                <a:spcPct val="133000"/>
              </a:lnSpc>
              <a:buSzPct val="100000"/>
              <a:buChar char="•"/>
            </a:pPr>
            <a:r>
              <a:rPr lang="en-US" sz="1300" dirty="0">
                <a:solidFill>
                  <a:srgbClr val="443728"/>
                </a:solidFill>
                <a:latin typeface="Open Sans" pitchFamily="34" charset="0"/>
                <a:ea typeface="Open Sans" pitchFamily="34" charset="-122"/>
                <a:cs typeface="Open Sans" pitchFamily="34" charset="-120"/>
              </a:rPr>
              <a:t>Respect du cahier des charges (code et interface)</a:t>
            </a:r>
            <a:endParaRPr lang="en-US" sz="1300" dirty="0"/>
          </a:p>
        </p:txBody>
      </p:sp>
      <p:pic>
        <p:nvPicPr>
          <p:cNvPr id="4" name="Image 3">
            <a:extLst>
              <a:ext uri="{FF2B5EF4-FFF2-40B4-BE49-F238E27FC236}">
                <a16:creationId xmlns:a16="http://schemas.microsoft.com/office/drawing/2014/main" id="{02BEE431-8D67-FE74-90E7-359DDE8BBE9D}"/>
              </a:ext>
            </a:extLst>
          </p:cNvPr>
          <p:cNvPicPr>
            <a:picLocks noChangeAspect="1"/>
          </p:cNvPicPr>
          <p:nvPr/>
        </p:nvPicPr>
        <p:blipFill>
          <a:blip r:embed="rId3"/>
          <a:stretch>
            <a:fillRect/>
          </a:stretch>
        </p:blipFill>
        <p:spPr>
          <a:xfrm>
            <a:off x="10147300" y="6299200"/>
            <a:ext cx="2044700" cy="558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1282502"/>
            <a:ext cx="734895" cy="251420"/>
          </a:xfrm>
          <a:prstGeom prst="roundRect">
            <a:avLst>
              <a:gd name="adj" fmla="val 22103"/>
            </a:avLst>
          </a:prstGeom>
          <a:noFill/>
          <a:ln w="6350">
            <a:solidFill>
              <a:srgbClr val="835E54"/>
            </a:solidFill>
            <a:prstDash val="solid"/>
          </a:ln>
        </p:spPr>
        <p:txBody>
          <a:bodyPr/>
          <a:lstStyle/>
          <a:p>
            <a:endParaRPr lang="fr-FR"/>
          </a:p>
        </p:txBody>
      </p:sp>
      <p:sp>
        <p:nvSpPr>
          <p:cNvPr id="3" name="Text 1"/>
          <p:cNvSpPr/>
          <p:nvPr/>
        </p:nvSpPr>
        <p:spPr>
          <a:xfrm>
            <a:off x="760691" y="1332111"/>
            <a:ext cx="1146047" cy="152202"/>
          </a:xfrm>
          <a:prstGeom prst="rect">
            <a:avLst/>
          </a:prstGeom>
          <a:noFill/>
          <a:ln/>
        </p:spPr>
        <p:txBody>
          <a:bodyPr wrap="none" lIns="0" tIns="0" rIns="0" bIns="0" rtlCol="0" anchor="t"/>
          <a:lstStyle/>
          <a:p>
            <a:pPr marL="0" indent="0" algn="l">
              <a:lnSpc>
                <a:spcPct val="96000"/>
              </a:lnSpc>
              <a:buNone/>
            </a:pPr>
            <a:r>
              <a:rPr lang="en-US" sz="1000" dirty="0">
                <a:solidFill>
                  <a:srgbClr val="835E54"/>
                </a:solidFill>
                <a:latin typeface="Open Sans" pitchFamily="34" charset="0"/>
                <a:ea typeface="Open Sans" pitchFamily="34" charset="-122"/>
                <a:cs typeface="Open Sans" pitchFamily="34" charset="-120"/>
              </a:rPr>
              <a:t>RISQUES</a:t>
            </a:r>
            <a:endParaRPr lang="en-US" sz="1000" dirty="0"/>
          </a:p>
        </p:txBody>
      </p:sp>
      <p:sp>
        <p:nvSpPr>
          <p:cNvPr id="4" name="Text 2"/>
          <p:cNvSpPr/>
          <p:nvPr/>
        </p:nvSpPr>
        <p:spPr>
          <a:xfrm>
            <a:off x="661475" y="1600002"/>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443728"/>
                </a:solidFill>
                <a:latin typeface="Crimson Pro Bold" pitchFamily="34" charset="0"/>
                <a:ea typeface="Crimson Pro Bold" pitchFamily="34" charset="-122"/>
                <a:cs typeface="Crimson Pro Bold" pitchFamily="34" charset="-120"/>
              </a:rPr>
              <a:t>Risques identifiés</a:t>
            </a:r>
            <a:endParaRPr lang="en-US" sz="3250" dirty="0"/>
          </a:p>
        </p:txBody>
      </p:sp>
      <p:graphicFrame>
        <p:nvGraphicFramePr>
          <p:cNvPr id="10" name="Table 0"/>
          <p:cNvGraphicFramePr>
            <a:graphicFrameLocks noGrp="1"/>
          </p:cNvGraphicFramePr>
          <p:nvPr>
            <p:extLst>
              <p:ext uri="{D42A27DB-BD31-4B8C-83A1-F6EECF244321}">
                <p14:modId xmlns:p14="http://schemas.microsoft.com/office/powerpoint/2010/main" val="620096380"/>
              </p:ext>
            </p:extLst>
          </p:nvPr>
        </p:nvGraphicFramePr>
        <p:xfrm>
          <a:off x="661475" y="2364780"/>
          <a:ext cx="10868748" cy="2836330"/>
        </p:xfrm>
        <a:graphic>
          <a:graphicData uri="http://schemas.openxmlformats.org/drawingml/2006/table">
            <a:tbl>
              <a:tblPr/>
              <a:tblGrid>
                <a:gridCol w="2173749">
                  <a:extLst>
                    <a:ext uri="{9D8B030D-6E8A-4147-A177-3AD203B41FA5}">
                      <a16:colId xmlns:a16="http://schemas.microsoft.com/office/drawing/2014/main" val="20000"/>
                    </a:ext>
                  </a:extLst>
                </a:gridCol>
                <a:gridCol w="3260625">
                  <a:extLst>
                    <a:ext uri="{9D8B030D-6E8A-4147-A177-3AD203B41FA5}">
                      <a16:colId xmlns:a16="http://schemas.microsoft.com/office/drawing/2014/main" val="20001"/>
                    </a:ext>
                  </a:extLst>
                </a:gridCol>
                <a:gridCol w="2717187">
                  <a:extLst>
                    <a:ext uri="{9D8B030D-6E8A-4147-A177-3AD203B41FA5}">
                      <a16:colId xmlns:a16="http://schemas.microsoft.com/office/drawing/2014/main" val="20002"/>
                    </a:ext>
                  </a:extLst>
                </a:gridCol>
                <a:gridCol w="2717187">
                  <a:extLst>
                    <a:ext uri="{9D8B030D-6E8A-4147-A177-3AD203B41FA5}">
                      <a16:colId xmlns:a16="http://schemas.microsoft.com/office/drawing/2014/main" val="20003"/>
                    </a:ext>
                  </a:extLst>
                </a:gridCol>
              </a:tblGrid>
              <a:tr h="473401">
                <a:tc>
                  <a:txBody>
                    <a:bodyPr/>
                    <a:lstStyle/>
                    <a:p>
                      <a:pPr marL="0" indent="0">
                        <a:buNone/>
                      </a:pPr>
                      <a:r>
                        <a:rPr lang="en-US" sz="1300" b="1" dirty="0">
                          <a:solidFill>
                            <a:srgbClr val="443728"/>
                          </a:solidFill>
                          <a:latin typeface="Open Sans" pitchFamily="34" charset="0"/>
                          <a:ea typeface="Open Sans" pitchFamily="34" charset="-122"/>
                          <a:cs typeface="Open Sans" pitchFamily="34" charset="-120"/>
                        </a:rPr>
                        <a:t>Domaine</a:t>
                      </a:r>
                      <a:endParaRPr lang="en-US" sz="1300" dirty="0">
                        <a:latin typeface="Open Sans" charset="0"/>
                        <a:ea typeface="Open Sans" charset="0"/>
                        <a:cs typeface="Open Sans" charset="0"/>
                      </a:endParaRPr>
                    </a:p>
                  </a:txBody>
                  <a:tcPr marL="165391" marR="165391" marT="6350" marB="6350" anchor="ctr">
                    <a:lnL w="12700" cap="flat" cmpd="sng" algn="ctr">
                      <a:solidFill>
                        <a:srgbClr val="D1C8C6"/>
                      </a:solidFill>
                      <a:prstDash val="solid"/>
                      <a:round/>
                      <a:headEnd type="none" w="med" len="med"/>
                      <a:tailEnd type="none" w="med" len="med"/>
                    </a:lnL>
                    <a:lnR w="12700" cap="flat" cmpd="sng" algn="ctr">
                      <a:solidFill>
                        <a:srgbClr val="FFFCFA"/>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tc>
                  <a:txBody>
                    <a:bodyPr/>
                    <a:lstStyle/>
                    <a:p>
                      <a:pPr marL="0" indent="0">
                        <a:buNone/>
                      </a:pPr>
                      <a:r>
                        <a:rPr lang="en-US" sz="1300" b="1" dirty="0">
                          <a:solidFill>
                            <a:srgbClr val="443728"/>
                          </a:solidFill>
                          <a:latin typeface="Open Sans" pitchFamily="34" charset="0"/>
                          <a:ea typeface="Open Sans" pitchFamily="34" charset="-122"/>
                          <a:cs typeface="Open Sans" pitchFamily="34" charset="-120"/>
                        </a:rPr>
                        <a:t>Risque</a:t>
                      </a:r>
                      <a:endParaRPr lang="en-US" sz="1300" dirty="0">
                        <a:latin typeface="Open Sans" charset="0"/>
                        <a:ea typeface="Open Sans" charset="0"/>
                        <a:cs typeface="Open Sans" charset="0"/>
                      </a:endParaRPr>
                    </a:p>
                  </a:txBody>
                  <a:tcPr marL="165391" marR="165391" marT="6350" marB="6350" anchor="ctr">
                    <a:lnL w="12700" cap="flat" cmpd="sng" algn="ctr">
                      <a:solidFill>
                        <a:srgbClr val="FFFCFA"/>
                      </a:solidFill>
                      <a:prstDash val="solid"/>
                      <a:round/>
                      <a:headEnd type="none" w="med" len="med"/>
                      <a:tailEnd type="none" w="med" len="med"/>
                    </a:lnL>
                    <a:lnR w="12700" cap="flat" cmpd="sng" algn="ctr">
                      <a:solidFill>
                        <a:srgbClr val="FFFCFA"/>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tc>
                  <a:txBody>
                    <a:bodyPr/>
                    <a:lstStyle/>
                    <a:p>
                      <a:pPr marL="0" indent="0">
                        <a:buNone/>
                      </a:pPr>
                      <a:r>
                        <a:rPr lang="en-US" sz="1300" b="1" dirty="0">
                          <a:solidFill>
                            <a:srgbClr val="443728"/>
                          </a:solidFill>
                          <a:latin typeface="Open Sans" pitchFamily="34" charset="0"/>
                          <a:ea typeface="Open Sans" pitchFamily="34" charset="-122"/>
                          <a:cs typeface="Open Sans" pitchFamily="34" charset="-120"/>
                        </a:rPr>
                        <a:t>Impact</a:t>
                      </a:r>
                      <a:endParaRPr lang="en-US" sz="1300" dirty="0">
                        <a:latin typeface="Open Sans" charset="0"/>
                        <a:ea typeface="Open Sans" charset="0"/>
                        <a:cs typeface="Open Sans" charset="0"/>
                      </a:endParaRPr>
                    </a:p>
                  </a:txBody>
                  <a:tcPr marL="165391" marR="165391" marT="6350" marB="6350" anchor="ctr">
                    <a:lnL w="12700" cap="flat" cmpd="sng" algn="ctr">
                      <a:solidFill>
                        <a:srgbClr val="FFFCFA"/>
                      </a:solidFill>
                      <a:prstDash val="solid"/>
                      <a:round/>
                      <a:headEnd type="none" w="med" len="med"/>
                      <a:tailEnd type="none" w="med" len="med"/>
                    </a:lnL>
                    <a:lnR w="12700" cap="flat" cmpd="sng" algn="ctr">
                      <a:solidFill>
                        <a:srgbClr val="FFFCFA"/>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tc>
                  <a:txBody>
                    <a:bodyPr/>
                    <a:lstStyle/>
                    <a:p>
                      <a:pPr marL="0" indent="0">
                        <a:buNone/>
                      </a:pPr>
                      <a:r>
                        <a:rPr lang="en-US" sz="1300" b="1" dirty="0">
                          <a:solidFill>
                            <a:srgbClr val="443728"/>
                          </a:solidFill>
                          <a:latin typeface="Open Sans" pitchFamily="34" charset="0"/>
                          <a:ea typeface="Open Sans" pitchFamily="34" charset="-122"/>
                          <a:cs typeface="Open Sans" pitchFamily="34" charset="-120"/>
                        </a:rPr>
                        <a:t>Mesure corrective</a:t>
                      </a:r>
                      <a:endParaRPr lang="en-US" sz="1300" dirty="0">
                        <a:latin typeface="Open Sans" charset="0"/>
                        <a:ea typeface="Open Sans" charset="0"/>
                        <a:cs typeface="Open Sans" charset="0"/>
                      </a:endParaRPr>
                    </a:p>
                  </a:txBody>
                  <a:tcPr marL="165391" marR="165391" marT="6350" marB="6350" anchor="ctr">
                    <a:lnL w="12700" cap="flat" cmpd="sng" algn="ctr">
                      <a:solidFill>
                        <a:srgbClr val="FFFCFA"/>
                      </a:solidFill>
                      <a:prstDash val="solid"/>
                      <a:round/>
                      <a:headEnd type="none" w="med" len="med"/>
                      <a:tailEnd type="none" w="med" len="med"/>
                    </a:lnL>
                    <a:lnR w="12700" cap="flat" cmpd="sng" algn="ctr">
                      <a:solidFill>
                        <a:srgbClr val="D1C8C6"/>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extLst>
                  <a:ext uri="{0D108BD9-81ED-4DB2-BD59-A6C34878D82A}">
                    <a16:rowId xmlns:a16="http://schemas.microsoft.com/office/drawing/2014/main" val="10000"/>
                  </a:ext>
                </a:extLst>
              </a:tr>
              <a:tr h="940605">
                <a:tc>
                  <a:txBody>
                    <a:bodyPr/>
                    <a:lstStyle/>
                    <a:p>
                      <a:pPr marL="0" indent="0">
                        <a:buNone/>
                      </a:pPr>
                      <a:r>
                        <a:rPr lang="en-US" sz="1300" b="1" dirty="0">
                          <a:solidFill>
                            <a:srgbClr val="443728"/>
                          </a:solidFill>
                          <a:latin typeface="Open Sans" pitchFamily="34" charset="0"/>
                          <a:ea typeface="Open Sans" pitchFamily="34" charset="-122"/>
                          <a:cs typeface="Open Sans" pitchFamily="34" charset="-120"/>
                        </a:rPr>
                        <a:t>Sécurité</a:t>
                      </a:r>
                      <a:endParaRPr lang="en-US" sz="1300" dirty="0">
                        <a:latin typeface="Open Sans" charset="0"/>
                        <a:ea typeface="Open Sans" charset="0"/>
                        <a:cs typeface="Open Sans" charset="0"/>
                      </a:endParaRPr>
                    </a:p>
                  </a:txBody>
                  <a:tcPr marL="165391" marR="165391" marT="6350" marB="6350" anchor="ctr">
                    <a:lnL w="12700" cap="flat" cmpd="sng" algn="ctr">
                      <a:solidFill>
                        <a:srgbClr val="D1C8C6"/>
                      </a:solidFill>
                      <a:prstDash val="solid"/>
                      <a:round/>
                      <a:headEnd type="none" w="med" len="med"/>
                      <a:tailEnd type="none" w="med" len="med"/>
                    </a:lnL>
                    <a:lnR w="12700" cap="flat" cmpd="sng" algn="ctr">
                      <a:solidFill>
                        <a:srgbClr val="FFFCFA"/>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tc>
                  <a:txBody>
                    <a:bodyPr/>
                    <a:lstStyle/>
                    <a:p>
                      <a:pPr marL="0" indent="0">
                        <a:buNone/>
                      </a:pPr>
                      <a:r>
                        <a:rPr lang="en-US" sz="1300" dirty="0">
                          <a:solidFill>
                            <a:srgbClr val="443728"/>
                          </a:solidFill>
                          <a:latin typeface="Open Sans" pitchFamily="34" charset="0"/>
                          <a:ea typeface="Open Sans" pitchFamily="34" charset="-122"/>
                          <a:cs typeface="Open Sans" pitchFamily="34" charset="-120"/>
                        </a:rPr>
                        <a:t>Injection SQL</a:t>
                      </a:r>
                      <a:endParaRPr lang="en-US" sz="1300" dirty="0">
                        <a:latin typeface="Open Sans" charset="0"/>
                        <a:ea typeface="Open Sans" charset="0"/>
                        <a:cs typeface="Open Sans" charset="0"/>
                      </a:endParaRPr>
                    </a:p>
                  </a:txBody>
                  <a:tcPr marL="165391" marR="165391" marT="6350" marB="6350" anchor="ctr">
                    <a:lnL w="12700" cap="flat" cmpd="sng" algn="ctr">
                      <a:solidFill>
                        <a:srgbClr val="FFFCFA"/>
                      </a:solidFill>
                      <a:prstDash val="solid"/>
                      <a:round/>
                      <a:headEnd type="none" w="med" len="med"/>
                      <a:tailEnd type="none" w="med" len="med"/>
                    </a:lnL>
                    <a:lnR w="12700" cap="flat" cmpd="sng" algn="ctr">
                      <a:solidFill>
                        <a:srgbClr val="FFFCFA"/>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tc>
                  <a:txBody>
                    <a:bodyPr/>
                    <a:lstStyle/>
                    <a:p>
                      <a:pPr marL="0" indent="0">
                        <a:buNone/>
                      </a:pPr>
                      <a:r>
                        <a:rPr lang="en-US" sz="1300" dirty="0">
                          <a:solidFill>
                            <a:srgbClr val="443728"/>
                          </a:solidFill>
                          <a:latin typeface="Open Sans" pitchFamily="34" charset="0"/>
                          <a:ea typeface="Open Sans" pitchFamily="34" charset="-122"/>
                          <a:cs typeface="Open Sans" pitchFamily="34" charset="-120"/>
                        </a:rPr>
                        <a:t>Critique</a:t>
                      </a:r>
                      <a:endParaRPr lang="en-US" sz="1300" dirty="0">
                        <a:latin typeface="Open Sans" charset="0"/>
                        <a:ea typeface="Open Sans" charset="0"/>
                        <a:cs typeface="Open Sans" charset="0"/>
                      </a:endParaRPr>
                    </a:p>
                  </a:txBody>
                  <a:tcPr marL="165391" marR="165391" marT="6350" marB="6350" anchor="ctr">
                    <a:lnL w="12700" cap="flat" cmpd="sng" algn="ctr">
                      <a:solidFill>
                        <a:srgbClr val="FFFCFA"/>
                      </a:solidFill>
                      <a:prstDash val="solid"/>
                      <a:round/>
                      <a:headEnd type="none" w="med" len="med"/>
                      <a:tailEnd type="none" w="med" len="med"/>
                    </a:lnL>
                    <a:lnR w="12700" cap="flat" cmpd="sng" algn="ctr">
                      <a:solidFill>
                        <a:srgbClr val="FFFCFA"/>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tc>
                  <a:txBody>
                    <a:bodyPr/>
                    <a:lstStyle/>
                    <a:p>
                      <a:pPr marL="0" indent="0">
                        <a:buNone/>
                      </a:pPr>
                      <a:r>
                        <a:rPr lang="en-US" sz="1300" dirty="0">
                          <a:solidFill>
                            <a:srgbClr val="443728"/>
                          </a:solidFill>
                          <a:latin typeface="Open Sans" pitchFamily="34" charset="0"/>
                          <a:ea typeface="Open Sans" pitchFamily="34" charset="-122"/>
                          <a:cs typeface="Open Sans" pitchFamily="34" charset="-120"/>
                        </a:rPr>
                        <a:t>Requêtes paramétrées + validation</a:t>
                      </a:r>
                      <a:endParaRPr lang="en-US" sz="1300" dirty="0">
                        <a:latin typeface="Open Sans" charset="0"/>
                        <a:ea typeface="Open Sans" charset="0"/>
                        <a:cs typeface="Open Sans" charset="0"/>
                      </a:endParaRPr>
                    </a:p>
                  </a:txBody>
                  <a:tcPr marL="165391" marR="165391" marT="6350" marB="6350" anchor="ctr">
                    <a:lnL w="12700" cap="flat" cmpd="sng" algn="ctr">
                      <a:solidFill>
                        <a:srgbClr val="FFFCFA"/>
                      </a:solidFill>
                      <a:prstDash val="solid"/>
                      <a:round/>
                      <a:headEnd type="none" w="med" len="med"/>
                      <a:tailEnd type="none" w="med" len="med"/>
                    </a:lnL>
                    <a:lnR w="12700" cap="flat" cmpd="sng" algn="ctr">
                      <a:solidFill>
                        <a:srgbClr val="D1C8C6"/>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extLst>
                  <a:ext uri="{0D108BD9-81ED-4DB2-BD59-A6C34878D82A}">
                    <a16:rowId xmlns:a16="http://schemas.microsoft.com/office/drawing/2014/main" val="10001"/>
                  </a:ext>
                </a:extLst>
              </a:tr>
              <a:tr h="0">
                <a:tc>
                  <a:txBody>
                    <a:bodyPr/>
                    <a:lstStyle/>
                    <a:p>
                      <a:pPr marL="0" indent="0">
                        <a:buNone/>
                      </a:pPr>
                      <a:endParaRPr lang="en-US" sz="1300" dirty="0">
                        <a:latin typeface="Open Sans" charset="0"/>
                        <a:ea typeface="Open Sans" charset="0"/>
                        <a:cs typeface="Open Sans" charset="0"/>
                      </a:endParaRPr>
                    </a:p>
                  </a:txBody>
                  <a:tcPr marL="165391" marR="165391" marT="6350" marB="6350" anchor="ctr">
                    <a:lnL w="12700" cap="flat" cmpd="sng" algn="ctr">
                      <a:solidFill>
                        <a:srgbClr val="D1C8C6"/>
                      </a:solidFill>
                      <a:prstDash val="solid"/>
                      <a:round/>
                      <a:headEnd type="none" w="med" len="med"/>
                      <a:tailEnd type="none" w="med" len="med"/>
                    </a:lnL>
                    <a:lnR w="12700" cap="flat" cmpd="sng" algn="ctr">
                      <a:solidFill>
                        <a:srgbClr val="FFFCFA"/>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tc>
                  <a:txBody>
                    <a:bodyPr/>
                    <a:lstStyle/>
                    <a:p>
                      <a:pPr marL="0" indent="0">
                        <a:buNone/>
                      </a:pPr>
                      <a:endParaRPr lang="en-US" sz="1300" dirty="0">
                        <a:latin typeface="Open Sans" charset="0"/>
                        <a:ea typeface="Open Sans" charset="0"/>
                        <a:cs typeface="Open Sans" charset="0"/>
                      </a:endParaRPr>
                    </a:p>
                  </a:txBody>
                  <a:tcPr marL="165391" marR="165391" marT="6350" marB="6350" anchor="ctr">
                    <a:lnL w="12700" cap="flat" cmpd="sng" algn="ctr">
                      <a:solidFill>
                        <a:srgbClr val="FFFCFA"/>
                      </a:solidFill>
                      <a:prstDash val="solid"/>
                      <a:round/>
                      <a:headEnd type="none" w="med" len="med"/>
                      <a:tailEnd type="none" w="med" len="med"/>
                    </a:lnL>
                    <a:lnR w="12700" cap="flat" cmpd="sng" algn="ctr">
                      <a:solidFill>
                        <a:srgbClr val="FFFCFA"/>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tc>
                  <a:txBody>
                    <a:bodyPr/>
                    <a:lstStyle/>
                    <a:p>
                      <a:pPr marL="0" indent="0">
                        <a:buNone/>
                      </a:pPr>
                      <a:endParaRPr lang="en-US" sz="1300" dirty="0">
                        <a:latin typeface="Open Sans" charset="0"/>
                        <a:ea typeface="Open Sans" charset="0"/>
                        <a:cs typeface="Open Sans" charset="0"/>
                      </a:endParaRPr>
                    </a:p>
                  </a:txBody>
                  <a:tcPr marL="165391" marR="165391" marT="6350" marB="6350" anchor="ctr">
                    <a:lnL w="12700" cap="flat" cmpd="sng" algn="ctr">
                      <a:solidFill>
                        <a:srgbClr val="FFFCFA"/>
                      </a:solidFill>
                      <a:prstDash val="solid"/>
                      <a:round/>
                      <a:headEnd type="none" w="med" len="med"/>
                      <a:tailEnd type="none" w="med" len="med"/>
                    </a:lnL>
                    <a:lnR w="12700" cap="flat" cmpd="sng" algn="ctr">
                      <a:solidFill>
                        <a:srgbClr val="FFFCFA"/>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tc>
                  <a:txBody>
                    <a:bodyPr/>
                    <a:lstStyle/>
                    <a:p>
                      <a:pPr marL="0" indent="0">
                        <a:buNone/>
                      </a:pPr>
                      <a:endParaRPr lang="en-US" sz="1300" dirty="0">
                        <a:latin typeface="Open Sans" charset="0"/>
                        <a:ea typeface="Open Sans" charset="0"/>
                        <a:cs typeface="Open Sans" charset="0"/>
                      </a:endParaRPr>
                    </a:p>
                  </a:txBody>
                  <a:tcPr marL="165391" marR="165391" marT="6350" marB="6350" anchor="ctr">
                    <a:lnL w="12700" cap="flat" cmpd="sng" algn="ctr">
                      <a:solidFill>
                        <a:srgbClr val="FFFCFA"/>
                      </a:solidFill>
                      <a:prstDash val="solid"/>
                      <a:round/>
                      <a:headEnd type="none" w="med" len="med"/>
                      <a:tailEnd type="none" w="med" len="med"/>
                    </a:lnL>
                    <a:lnR w="12700" cap="flat" cmpd="sng" algn="ctr">
                      <a:solidFill>
                        <a:srgbClr val="D1C8C6"/>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extLst>
                  <a:ext uri="{0D108BD9-81ED-4DB2-BD59-A6C34878D82A}">
                    <a16:rowId xmlns:a16="http://schemas.microsoft.com/office/drawing/2014/main" val="10002"/>
                  </a:ext>
                </a:extLst>
              </a:tr>
              <a:tr h="476540">
                <a:tc>
                  <a:txBody>
                    <a:bodyPr/>
                    <a:lstStyle/>
                    <a:p>
                      <a:pPr marL="0" indent="0">
                        <a:buNone/>
                      </a:pPr>
                      <a:r>
                        <a:rPr lang="en-US" sz="1300" b="1" dirty="0">
                          <a:solidFill>
                            <a:srgbClr val="443728"/>
                          </a:solidFill>
                          <a:latin typeface="Open Sans" pitchFamily="34" charset="0"/>
                          <a:ea typeface="Open Sans" pitchFamily="34" charset="-122"/>
                          <a:cs typeface="Open Sans" pitchFamily="34" charset="-120"/>
                        </a:rPr>
                        <a:t>Disponibilité</a:t>
                      </a:r>
                      <a:endParaRPr lang="en-US" sz="1300" dirty="0">
                        <a:latin typeface="Open Sans" charset="0"/>
                        <a:ea typeface="Open Sans" charset="0"/>
                        <a:cs typeface="Open Sans" charset="0"/>
                      </a:endParaRPr>
                    </a:p>
                  </a:txBody>
                  <a:tcPr marL="165391" marR="165391" marT="6350" marB="6350" anchor="ctr">
                    <a:lnL w="12700" cap="flat" cmpd="sng" algn="ctr">
                      <a:solidFill>
                        <a:srgbClr val="D1C8C6"/>
                      </a:solidFill>
                      <a:prstDash val="solid"/>
                      <a:round/>
                      <a:headEnd type="none" w="med" len="med"/>
                      <a:tailEnd type="none" w="med" len="med"/>
                    </a:lnL>
                    <a:lnR w="12700" cap="flat" cmpd="sng" algn="ctr">
                      <a:solidFill>
                        <a:srgbClr val="FFFCFA"/>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tc>
                  <a:txBody>
                    <a:bodyPr/>
                    <a:lstStyle/>
                    <a:p>
                      <a:pPr marL="0" indent="0">
                        <a:buNone/>
                      </a:pPr>
                      <a:r>
                        <a:rPr lang="en-US" sz="1300" dirty="0">
                          <a:solidFill>
                            <a:srgbClr val="443728"/>
                          </a:solidFill>
                          <a:latin typeface="Open Sans" pitchFamily="34" charset="0"/>
                          <a:ea typeface="Open Sans" pitchFamily="34" charset="-122"/>
                          <a:cs typeface="Open Sans" pitchFamily="34" charset="-120"/>
                        </a:rPr>
                        <a:t>Perte de données</a:t>
                      </a:r>
                      <a:endParaRPr lang="en-US" sz="1300" dirty="0">
                        <a:latin typeface="Open Sans" charset="0"/>
                        <a:ea typeface="Open Sans" charset="0"/>
                        <a:cs typeface="Open Sans" charset="0"/>
                      </a:endParaRPr>
                    </a:p>
                  </a:txBody>
                  <a:tcPr marL="165391" marR="165391" marT="6350" marB="6350" anchor="ctr">
                    <a:lnL w="12700" cap="flat" cmpd="sng" algn="ctr">
                      <a:solidFill>
                        <a:srgbClr val="FFFCFA"/>
                      </a:solidFill>
                      <a:prstDash val="solid"/>
                      <a:round/>
                      <a:headEnd type="none" w="med" len="med"/>
                      <a:tailEnd type="none" w="med" len="med"/>
                    </a:lnL>
                    <a:lnR w="12700" cap="flat" cmpd="sng" algn="ctr">
                      <a:solidFill>
                        <a:srgbClr val="FFFCFA"/>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tc>
                  <a:txBody>
                    <a:bodyPr/>
                    <a:lstStyle/>
                    <a:p>
                      <a:pPr marL="0" indent="0">
                        <a:buNone/>
                      </a:pPr>
                      <a:r>
                        <a:rPr lang="en-US" sz="1300" dirty="0">
                          <a:solidFill>
                            <a:srgbClr val="443728"/>
                          </a:solidFill>
                          <a:latin typeface="Open Sans" pitchFamily="34" charset="0"/>
                          <a:ea typeface="Open Sans" pitchFamily="34" charset="-122"/>
                          <a:cs typeface="Open Sans" pitchFamily="34" charset="-120"/>
                        </a:rPr>
                        <a:t>Élevé</a:t>
                      </a:r>
                      <a:endParaRPr lang="en-US" sz="1300" dirty="0">
                        <a:latin typeface="Open Sans" charset="0"/>
                        <a:ea typeface="Open Sans" charset="0"/>
                        <a:cs typeface="Open Sans" charset="0"/>
                      </a:endParaRPr>
                    </a:p>
                  </a:txBody>
                  <a:tcPr marL="165391" marR="165391" marT="6350" marB="6350" anchor="ctr">
                    <a:lnL w="12700" cap="flat" cmpd="sng" algn="ctr">
                      <a:solidFill>
                        <a:srgbClr val="FFFCFA"/>
                      </a:solidFill>
                      <a:prstDash val="solid"/>
                      <a:round/>
                      <a:headEnd type="none" w="med" len="med"/>
                      <a:tailEnd type="none" w="med" len="med"/>
                    </a:lnL>
                    <a:lnR w="12700" cap="flat" cmpd="sng" algn="ctr">
                      <a:solidFill>
                        <a:srgbClr val="FFFCFA"/>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tc>
                  <a:txBody>
                    <a:bodyPr/>
                    <a:lstStyle/>
                    <a:p>
                      <a:pPr marL="0" indent="0">
                        <a:buNone/>
                      </a:pPr>
                      <a:r>
                        <a:rPr lang="en-US" sz="1300" dirty="0">
                          <a:solidFill>
                            <a:srgbClr val="443728"/>
                          </a:solidFill>
                          <a:latin typeface="Open Sans" pitchFamily="34" charset="0"/>
                          <a:ea typeface="Open Sans" pitchFamily="34" charset="-122"/>
                          <a:cs typeface="Open Sans" pitchFamily="34" charset="-120"/>
                        </a:rPr>
                        <a:t>Sauvegardes régulières</a:t>
                      </a:r>
                      <a:endParaRPr lang="en-US" sz="1300" dirty="0">
                        <a:latin typeface="Open Sans" charset="0"/>
                        <a:ea typeface="Open Sans" charset="0"/>
                        <a:cs typeface="Open Sans" charset="0"/>
                      </a:endParaRPr>
                    </a:p>
                  </a:txBody>
                  <a:tcPr marL="165391" marR="165391" marT="6350" marB="6350" anchor="ctr">
                    <a:lnL w="12700" cap="flat" cmpd="sng" algn="ctr">
                      <a:solidFill>
                        <a:srgbClr val="FFFCFA"/>
                      </a:solidFill>
                      <a:prstDash val="solid"/>
                      <a:round/>
                      <a:headEnd type="none" w="med" len="med"/>
                      <a:tailEnd type="none" w="med" len="med"/>
                    </a:lnL>
                    <a:lnR w="12700" cap="flat" cmpd="sng" algn="ctr">
                      <a:solidFill>
                        <a:srgbClr val="D1C8C6"/>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extLst>
                  <a:ext uri="{0D108BD9-81ED-4DB2-BD59-A6C34878D82A}">
                    <a16:rowId xmlns:a16="http://schemas.microsoft.com/office/drawing/2014/main" val="10003"/>
                  </a:ext>
                </a:extLst>
              </a:tr>
              <a:tr h="734964">
                <a:tc>
                  <a:txBody>
                    <a:bodyPr/>
                    <a:lstStyle/>
                    <a:p>
                      <a:pPr marL="0" indent="0">
                        <a:buNone/>
                      </a:pPr>
                      <a:r>
                        <a:rPr lang="en-US" sz="1300" b="1" dirty="0">
                          <a:solidFill>
                            <a:srgbClr val="443728"/>
                          </a:solidFill>
                          <a:latin typeface="Open Sans" pitchFamily="34" charset="0"/>
                          <a:ea typeface="Open Sans" pitchFamily="34" charset="-122"/>
                          <a:cs typeface="Open Sans" pitchFamily="34" charset="-120"/>
                        </a:rPr>
                        <a:t>Intégration</a:t>
                      </a:r>
                      <a:endParaRPr lang="en-US" sz="1300" dirty="0">
                        <a:latin typeface="Open Sans" charset="0"/>
                        <a:ea typeface="Open Sans" charset="0"/>
                        <a:cs typeface="Open Sans" charset="0"/>
                      </a:endParaRPr>
                    </a:p>
                  </a:txBody>
                  <a:tcPr marL="165391" marR="165391" marT="6350" marB="6350" anchor="ctr">
                    <a:lnL w="12700" cap="flat" cmpd="sng" algn="ctr">
                      <a:solidFill>
                        <a:srgbClr val="D1C8C6"/>
                      </a:solidFill>
                      <a:prstDash val="solid"/>
                      <a:round/>
                      <a:headEnd type="none" w="med" len="med"/>
                      <a:tailEnd type="none" w="med" len="med"/>
                    </a:lnL>
                    <a:lnR w="12700" cap="flat" cmpd="sng" algn="ctr">
                      <a:solidFill>
                        <a:srgbClr val="FFFCFA"/>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tc>
                  <a:txBody>
                    <a:bodyPr/>
                    <a:lstStyle/>
                    <a:p>
                      <a:pPr marL="0" indent="0">
                        <a:buNone/>
                      </a:pPr>
                      <a:r>
                        <a:rPr lang="en-US" sz="1300" dirty="0">
                          <a:solidFill>
                            <a:srgbClr val="443728"/>
                          </a:solidFill>
                          <a:latin typeface="Open Sans" pitchFamily="34" charset="0"/>
                          <a:ea typeface="Open Sans" pitchFamily="34" charset="-122"/>
                          <a:cs typeface="Open Sans" pitchFamily="34" charset="-120"/>
                        </a:rPr>
                        <a:t>Conflits Git</a:t>
                      </a:r>
                      <a:endParaRPr lang="en-US" sz="1300" dirty="0">
                        <a:latin typeface="Open Sans" charset="0"/>
                        <a:ea typeface="Open Sans" charset="0"/>
                        <a:cs typeface="Open Sans" charset="0"/>
                      </a:endParaRPr>
                    </a:p>
                  </a:txBody>
                  <a:tcPr marL="165391" marR="165391" marT="6350" marB="6350" anchor="ctr">
                    <a:lnL w="12700" cap="flat" cmpd="sng" algn="ctr">
                      <a:solidFill>
                        <a:srgbClr val="FFFCFA"/>
                      </a:solidFill>
                      <a:prstDash val="solid"/>
                      <a:round/>
                      <a:headEnd type="none" w="med" len="med"/>
                      <a:tailEnd type="none" w="med" len="med"/>
                    </a:lnL>
                    <a:lnR w="12700" cap="flat" cmpd="sng" algn="ctr">
                      <a:solidFill>
                        <a:srgbClr val="FFFCFA"/>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tc>
                  <a:txBody>
                    <a:bodyPr/>
                    <a:lstStyle/>
                    <a:p>
                      <a:pPr marL="0" indent="0">
                        <a:buNone/>
                      </a:pPr>
                      <a:r>
                        <a:rPr lang="en-US" sz="1300" dirty="0">
                          <a:solidFill>
                            <a:srgbClr val="443728"/>
                          </a:solidFill>
                          <a:latin typeface="Open Sans" pitchFamily="34" charset="0"/>
                          <a:ea typeface="Open Sans" pitchFamily="34" charset="-122"/>
                          <a:cs typeface="Open Sans" pitchFamily="34" charset="-120"/>
                        </a:rPr>
                        <a:t>Faible</a:t>
                      </a:r>
                      <a:endParaRPr lang="en-US" sz="1300" dirty="0">
                        <a:latin typeface="Open Sans" charset="0"/>
                        <a:ea typeface="Open Sans" charset="0"/>
                        <a:cs typeface="Open Sans" charset="0"/>
                      </a:endParaRPr>
                    </a:p>
                  </a:txBody>
                  <a:tcPr marL="165391" marR="165391" marT="6350" marB="6350" anchor="ctr">
                    <a:lnL w="12700" cap="flat" cmpd="sng" algn="ctr">
                      <a:solidFill>
                        <a:srgbClr val="FFFCFA"/>
                      </a:solidFill>
                      <a:prstDash val="solid"/>
                      <a:round/>
                      <a:headEnd type="none" w="med" len="med"/>
                      <a:tailEnd type="none" w="med" len="med"/>
                    </a:lnL>
                    <a:lnR w="12700" cap="flat" cmpd="sng" algn="ctr">
                      <a:solidFill>
                        <a:srgbClr val="FFFCFA"/>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tc>
                  <a:txBody>
                    <a:bodyPr/>
                    <a:lstStyle/>
                    <a:p>
                      <a:pPr marL="0" indent="0">
                        <a:buNone/>
                      </a:pPr>
                      <a:r>
                        <a:rPr lang="en-US" sz="1300" dirty="0">
                          <a:solidFill>
                            <a:srgbClr val="443728"/>
                          </a:solidFill>
                          <a:latin typeface="Open Sans" pitchFamily="34" charset="0"/>
                          <a:ea typeface="Open Sans" pitchFamily="34" charset="-122"/>
                          <a:cs typeface="Open Sans" pitchFamily="34" charset="-120"/>
                        </a:rPr>
                        <a:t>Branches de développement isolées</a:t>
                      </a:r>
                      <a:endParaRPr lang="en-US" sz="1300" dirty="0">
                        <a:latin typeface="Open Sans" charset="0"/>
                        <a:ea typeface="Open Sans" charset="0"/>
                        <a:cs typeface="Open Sans" charset="0"/>
                      </a:endParaRPr>
                    </a:p>
                  </a:txBody>
                  <a:tcPr marL="165391" marR="165391" marT="6350" marB="6350" anchor="ctr">
                    <a:lnL w="12700" cap="flat" cmpd="sng" algn="ctr">
                      <a:solidFill>
                        <a:srgbClr val="FFFCFA"/>
                      </a:solidFill>
                      <a:prstDash val="solid"/>
                      <a:round/>
                      <a:headEnd type="none" w="med" len="med"/>
                      <a:tailEnd type="none" w="med" len="med"/>
                    </a:lnL>
                    <a:lnR w="12700" cap="flat" cmpd="sng" algn="ctr">
                      <a:solidFill>
                        <a:srgbClr val="D1C8C6"/>
                      </a:solidFill>
                      <a:prstDash val="solid"/>
                      <a:round/>
                      <a:headEnd type="none" w="med" len="med"/>
                      <a:tailEnd type="none" w="med" len="med"/>
                    </a:lnR>
                    <a:lnT w="12700" cap="flat" cmpd="sng" algn="ctr">
                      <a:solidFill>
                        <a:srgbClr val="D1C8C6"/>
                      </a:solidFill>
                      <a:prstDash val="solid"/>
                      <a:round/>
                      <a:headEnd type="none" w="med" len="med"/>
                      <a:tailEnd type="none" w="med" len="med"/>
                    </a:lnT>
                    <a:lnB w="12700" cap="flat" cmpd="sng" algn="ctr">
                      <a:solidFill>
                        <a:srgbClr val="D1C8C6"/>
                      </a:solidFill>
                      <a:prstDash val="solid"/>
                      <a:round/>
                      <a:headEnd type="none" w="med" len="med"/>
                      <a:tailEnd type="none" w="med" len="med"/>
                    </a:lnB>
                    <a:solidFill>
                      <a:srgbClr val="FFFCFA"/>
                    </a:solidFill>
                  </a:tcPr>
                </a:tc>
                <a:extLst>
                  <a:ext uri="{0D108BD9-81ED-4DB2-BD59-A6C34878D82A}">
                    <a16:rowId xmlns:a16="http://schemas.microsoft.com/office/drawing/2014/main" val="10004"/>
                  </a:ext>
                </a:extLst>
              </a:tr>
            </a:tbl>
          </a:graphicData>
        </a:graphic>
      </p:graphicFrame>
      <p:pic>
        <p:nvPicPr>
          <p:cNvPr id="5" name="Image 4">
            <a:extLst>
              <a:ext uri="{FF2B5EF4-FFF2-40B4-BE49-F238E27FC236}">
                <a16:creationId xmlns:a16="http://schemas.microsoft.com/office/drawing/2014/main" id="{717BEBBF-39FD-A612-0BD1-759B85946F46}"/>
              </a:ext>
            </a:extLst>
          </p:cNvPr>
          <p:cNvPicPr>
            <a:picLocks noChangeAspect="1"/>
          </p:cNvPicPr>
          <p:nvPr/>
        </p:nvPicPr>
        <p:blipFill>
          <a:blip r:embed="rId3"/>
          <a:stretch>
            <a:fillRect/>
          </a:stretch>
        </p:blipFill>
        <p:spPr>
          <a:xfrm>
            <a:off x="10147300" y="6299200"/>
            <a:ext cx="2044700" cy="558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1048048"/>
            <a:ext cx="862487" cy="251420"/>
          </a:xfrm>
          <a:prstGeom prst="roundRect">
            <a:avLst>
              <a:gd name="adj" fmla="val 22103"/>
            </a:avLst>
          </a:prstGeom>
          <a:noFill/>
          <a:ln w="6350">
            <a:solidFill>
              <a:srgbClr val="835E54"/>
            </a:solidFill>
            <a:prstDash val="solid"/>
          </a:ln>
        </p:spPr>
        <p:txBody>
          <a:bodyPr/>
          <a:lstStyle/>
          <a:p>
            <a:endParaRPr lang="fr-FR"/>
          </a:p>
        </p:txBody>
      </p:sp>
      <p:sp>
        <p:nvSpPr>
          <p:cNvPr id="3" name="Text 1"/>
          <p:cNvSpPr/>
          <p:nvPr/>
        </p:nvSpPr>
        <p:spPr>
          <a:xfrm>
            <a:off x="760691" y="1097657"/>
            <a:ext cx="1273639" cy="152202"/>
          </a:xfrm>
          <a:prstGeom prst="rect">
            <a:avLst/>
          </a:prstGeom>
          <a:noFill/>
          <a:ln/>
        </p:spPr>
        <p:txBody>
          <a:bodyPr wrap="none" lIns="0" tIns="0" rIns="0" bIns="0" rtlCol="0" anchor="t"/>
          <a:lstStyle/>
          <a:p>
            <a:pPr marL="0" indent="0" algn="l">
              <a:lnSpc>
                <a:spcPct val="96000"/>
              </a:lnSpc>
              <a:buNone/>
            </a:pPr>
            <a:r>
              <a:rPr lang="en-US" sz="1000" dirty="0">
                <a:solidFill>
                  <a:srgbClr val="835E54"/>
                </a:solidFill>
                <a:latin typeface="Open Sans" pitchFamily="34" charset="0"/>
                <a:ea typeface="Open Sans" pitchFamily="34" charset="-122"/>
                <a:cs typeface="Open Sans" pitchFamily="34" charset="-120"/>
              </a:rPr>
              <a:t>PLANNING</a:t>
            </a:r>
            <a:endParaRPr lang="en-US" sz="1000" dirty="0"/>
          </a:p>
        </p:txBody>
      </p:sp>
      <p:sp>
        <p:nvSpPr>
          <p:cNvPr id="4" name="Text 2"/>
          <p:cNvSpPr/>
          <p:nvPr/>
        </p:nvSpPr>
        <p:spPr>
          <a:xfrm>
            <a:off x="661475" y="1365548"/>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443728"/>
                </a:solidFill>
                <a:latin typeface="Crimson Pro Bold" pitchFamily="34" charset="0"/>
                <a:ea typeface="Crimson Pro Bold" pitchFamily="34" charset="-122"/>
                <a:cs typeface="Crimson Pro Bold" pitchFamily="34" charset="-120"/>
              </a:rPr>
              <a:t>Planning prévisionnel</a:t>
            </a:r>
            <a:endParaRPr lang="en-US" sz="3250" dirty="0"/>
          </a:p>
        </p:txBody>
      </p:sp>
      <p:sp>
        <p:nvSpPr>
          <p:cNvPr id="5" name="Shape 3"/>
          <p:cNvSpPr/>
          <p:nvPr/>
        </p:nvSpPr>
        <p:spPr>
          <a:xfrm>
            <a:off x="661475" y="3414117"/>
            <a:ext cx="10868745" cy="19050"/>
          </a:xfrm>
          <a:prstGeom prst="roundRect">
            <a:avLst>
              <a:gd name="adj" fmla="val 49999"/>
            </a:avLst>
          </a:prstGeom>
          <a:solidFill>
            <a:srgbClr val="D1C8C6"/>
          </a:solidFill>
          <a:ln/>
        </p:spPr>
        <p:txBody>
          <a:bodyPr/>
          <a:lstStyle/>
          <a:p>
            <a:endParaRPr lang="fr-FR"/>
          </a:p>
        </p:txBody>
      </p:sp>
      <p:sp>
        <p:nvSpPr>
          <p:cNvPr id="6" name="Shape 4"/>
          <p:cNvSpPr/>
          <p:nvPr/>
        </p:nvSpPr>
        <p:spPr>
          <a:xfrm>
            <a:off x="2763669" y="2918023"/>
            <a:ext cx="19050" cy="496094"/>
          </a:xfrm>
          <a:prstGeom prst="roundRect">
            <a:avLst>
              <a:gd name="adj" fmla="val 49999"/>
            </a:avLst>
          </a:prstGeom>
          <a:solidFill>
            <a:srgbClr val="D1C8C6"/>
          </a:solidFill>
          <a:ln/>
        </p:spPr>
        <p:txBody>
          <a:bodyPr/>
          <a:lstStyle/>
          <a:p>
            <a:endParaRPr lang="fr-FR"/>
          </a:p>
        </p:txBody>
      </p:sp>
      <p:sp>
        <p:nvSpPr>
          <p:cNvPr id="7" name="Shape 5"/>
          <p:cNvSpPr/>
          <p:nvPr/>
        </p:nvSpPr>
        <p:spPr>
          <a:xfrm>
            <a:off x="2587163" y="3228082"/>
            <a:ext cx="372061" cy="372070"/>
          </a:xfrm>
          <a:prstGeom prst="roundRect">
            <a:avLst>
              <a:gd name="adj" fmla="val 18670"/>
            </a:avLst>
          </a:prstGeom>
          <a:solidFill>
            <a:srgbClr val="EBE2E0"/>
          </a:solidFill>
          <a:ln w="6350">
            <a:solidFill>
              <a:srgbClr val="D1C8C6"/>
            </a:solidFill>
            <a:prstDash val="solid"/>
          </a:ln>
        </p:spPr>
        <p:txBody>
          <a:bodyPr/>
          <a:lstStyle/>
          <a:p>
            <a:endParaRPr lang="fr-FR"/>
          </a:p>
        </p:txBody>
      </p:sp>
      <p:sp>
        <p:nvSpPr>
          <p:cNvPr id="8" name="Text 6"/>
          <p:cNvSpPr/>
          <p:nvPr/>
        </p:nvSpPr>
        <p:spPr>
          <a:xfrm>
            <a:off x="2649174" y="3259088"/>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443728"/>
                </a:solidFill>
                <a:latin typeface="Crimson Pro Bold" pitchFamily="34" charset="0"/>
                <a:ea typeface="Crimson Pro Bold" pitchFamily="34" charset="-122"/>
                <a:cs typeface="Crimson Pro Bold" pitchFamily="34" charset="-120"/>
              </a:rPr>
              <a:t>1</a:t>
            </a:r>
            <a:endParaRPr lang="en-US" sz="1950" dirty="0"/>
          </a:p>
        </p:txBody>
      </p:sp>
      <p:sp>
        <p:nvSpPr>
          <p:cNvPr id="9" name="Text 7"/>
          <p:cNvSpPr/>
          <p:nvPr/>
        </p:nvSpPr>
        <p:spPr>
          <a:xfrm>
            <a:off x="826769" y="2130326"/>
            <a:ext cx="3892849" cy="258465"/>
          </a:xfrm>
          <a:prstGeom prst="rect">
            <a:avLst/>
          </a:prstGeom>
          <a:noFill/>
          <a:ln/>
        </p:spPr>
        <p:txBody>
          <a:bodyPr wrap="none" lIns="0" tIns="0" rIns="0" bIns="0" rtlCol="0" anchor="t"/>
          <a:lstStyle/>
          <a:p>
            <a:pPr marL="0" indent="0" algn="ctr">
              <a:lnSpc>
                <a:spcPct val="104000"/>
              </a:lnSpc>
              <a:buNone/>
            </a:pPr>
            <a:r>
              <a:rPr lang="en-US" sz="1600" b="1" dirty="0">
                <a:solidFill>
                  <a:srgbClr val="443728"/>
                </a:solidFill>
                <a:latin typeface="Crimson Pro Bold" pitchFamily="34" charset="0"/>
                <a:ea typeface="Crimson Pro Bold" pitchFamily="34" charset="-122"/>
                <a:cs typeface="Crimson Pro Bold" pitchFamily="34" charset="-120"/>
              </a:rPr>
              <a:t>R1 — 31/08</a:t>
            </a:r>
            <a:endParaRPr lang="en-US" sz="1600" dirty="0"/>
          </a:p>
        </p:txBody>
      </p:sp>
      <p:sp>
        <p:nvSpPr>
          <p:cNvPr id="10" name="Text 8"/>
          <p:cNvSpPr/>
          <p:nvPr/>
        </p:nvSpPr>
        <p:spPr>
          <a:xfrm>
            <a:off x="826769" y="2488009"/>
            <a:ext cx="3892849" cy="264616"/>
          </a:xfrm>
          <a:prstGeom prst="rect">
            <a:avLst/>
          </a:prstGeom>
          <a:noFill/>
          <a:ln/>
        </p:spPr>
        <p:txBody>
          <a:bodyPr wrap="none" lIns="0" tIns="0" rIns="0" bIns="0" rtlCol="0" anchor="t"/>
          <a:lstStyle/>
          <a:p>
            <a:pPr marL="0" indent="0" algn="ctr">
              <a:lnSpc>
                <a:spcPct val="133000"/>
              </a:lnSpc>
              <a:buNone/>
            </a:pPr>
            <a:r>
              <a:rPr lang="en-US" sz="1300" dirty="0">
                <a:solidFill>
                  <a:srgbClr val="443728"/>
                </a:solidFill>
                <a:latin typeface="Open Sans" pitchFamily="34" charset="0"/>
                <a:ea typeface="Open Sans" pitchFamily="34" charset="-122"/>
                <a:cs typeface="Open Sans" pitchFamily="34" charset="-120"/>
              </a:rPr>
              <a:t>Analyse du besoin</a:t>
            </a:r>
            <a:endParaRPr lang="en-US" sz="1300" dirty="0"/>
          </a:p>
        </p:txBody>
      </p:sp>
      <p:sp>
        <p:nvSpPr>
          <p:cNvPr id="11" name="Shape 9"/>
          <p:cNvSpPr/>
          <p:nvPr/>
        </p:nvSpPr>
        <p:spPr>
          <a:xfrm>
            <a:off x="4978672" y="3414117"/>
            <a:ext cx="19050" cy="496094"/>
          </a:xfrm>
          <a:prstGeom prst="roundRect">
            <a:avLst>
              <a:gd name="adj" fmla="val 49999"/>
            </a:avLst>
          </a:prstGeom>
          <a:solidFill>
            <a:srgbClr val="D1C8C6"/>
          </a:solidFill>
          <a:ln/>
        </p:spPr>
        <p:txBody>
          <a:bodyPr/>
          <a:lstStyle/>
          <a:p>
            <a:endParaRPr lang="fr-FR"/>
          </a:p>
        </p:txBody>
      </p:sp>
      <p:sp>
        <p:nvSpPr>
          <p:cNvPr id="12" name="Shape 10"/>
          <p:cNvSpPr/>
          <p:nvPr/>
        </p:nvSpPr>
        <p:spPr>
          <a:xfrm>
            <a:off x="4802167" y="3228082"/>
            <a:ext cx="372061" cy="372070"/>
          </a:xfrm>
          <a:prstGeom prst="roundRect">
            <a:avLst>
              <a:gd name="adj" fmla="val 18670"/>
            </a:avLst>
          </a:prstGeom>
          <a:solidFill>
            <a:srgbClr val="EBE2E0"/>
          </a:solidFill>
          <a:ln w="6350">
            <a:solidFill>
              <a:srgbClr val="D1C8C6"/>
            </a:solidFill>
            <a:prstDash val="solid"/>
          </a:ln>
        </p:spPr>
        <p:txBody>
          <a:bodyPr/>
          <a:lstStyle/>
          <a:p>
            <a:endParaRPr lang="fr-FR"/>
          </a:p>
        </p:txBody>
      </p:sp>
      <p:sp>
        <p:nvSpPr>
          <p:cNvPr id="13" name="Text 11"/>
          <p:cNvSpPr/>
          <p:nvPr/>
        </p:nvSpPr>
        <p:spPr>
          <a:xfrm>
            <a:off x="4864177" y="3259088"/>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443728"/>
                </a:solidFill>
                <a:latin typeface="Crimson Pro Bold" pitchFamily="34" charset="0"/>
                <a:ea typeface="Crimson Pro Bold" pitchFamily="34" charset="-122"/>
                <a:cs typeface="Crimson Pro Bold" pitchFamily="34" charset="-120"/>
              </a:rPr>
              <a:t>2</a:t>
            </a:r>
            <a:endParaRPr lang="en-US" sz="1950" dirty="0"/>
          </a:p>
        </p:txBody>
      </p:sp>
      <p:sp>
        <p:nvSpPr>
          <p:cNvPr id="14" name="Text 12"/>
          <p:cNvSpPr/>
          <p:nvPr/>
        </p:nvSpPr>
        <p:spPr>
          <a:xfrm>
            <a:off x="3041772" y="4075609"/>
            <a:ext cx="3892949" cy="258465"/>
          </a:xfrm>
          <a:prstGeom prst="rect">
            <a:avLst/>
          </a:prstGeom>
          <a:noFill/>
          <a:ln/>
        </p:spPr>
        <p:txBody>
          <a:bodyPr wrap="none" lIns="0" tIns="0" rIns="0" bIns="0" rtlCol="0" anchor="t"/>
          <a:lstStyle/>
          <a:p>
            <a:pPr marL="0" indent="0" algn="ctr">
              <a:lnSpc>
                <a:spcPct val="104000"/>
              </a:lnSpc>
              <a:buNone/>
            </a:pPr>
            <a:r>
              <a:rPr lang="en-US" sz="1600" b="1" dirty="0">
                <a:solidFill>
                  <a:srgbClr val="443728"/>
                </a:solidFill>
                <a:latin typeface="Crimson Pro Bold" pitchFamily="34" charset="0"/>
                <a:ea typeface="Crimson Pro Bold" pitchFamily="34" charset="-122"/>
                <a:cs typeface="Crimson Pro Bold" pitchFamily="34" charset="-120"/>
              </a:rPr>
              <a:t>R2 — 01/09</a:t>
            </a:r>
            <a:endParaRPr lang="en-US" sz="1600" dirty="0"/>
          </a:p>
        </p:txBody>
      </p:sp>
      <p:sp>
        <p:nvSpPr>
          <p:cNvPr id="15" name="Text 13"/>
          <p:cNvSpPr/>
          <p:nvPr/>
        </p:nvSpPr>
        <p:spPr>
          <a:xfrm>
            <a:off x="3041772" y="4433292"/>
            <a:ext cx="3892949" cy="529233"/>
          </a:xfrm>
          <a:prstGeom prst="rect">
            <a:avLst/>
          </a:prstGeom>
          <a:noFill/>
          <a:ln/>
        </p:spPr>
        <p:txBody>
          <a:bodyPr wrap="square" lIns="0" tIns="0" rIns="0" bIns="0" rtlCol="0" anchor="t">
            <a:normAutofit/>
          </a:bodyPr>
          <a:lstStyle/>
          <a:p>
            <a:pPr marL="0" indent="0" algn="ctr">
              <a:lnSpc>
                <a:spcPct val="133000"/>
              </a:lnSpc>
              <a:buNone/>
            </a:pPr>
            <a:r>
              <a:rPr lang="en-US" sz="1300" b="1" dirty="0">
                <a:solidFill>
                  <a:srgbClr val="FFFFFF"/>
                </a:solidFill>
                <a:highlight>
                  <a:srgbClr val="1E3A8A"/>
                </a:highlight>
                <a:latin typeface="Open Sans Bold" pitchFamily="34" charset="0"/>
                <a:ea typeface="Open Sans Bold" pitchFamily="34" charset="-122"/>
                <a:cs typeface="Open Sans Bold" pitchFamily="34" charset="-120"/>
              </a:rPr>
              <a:t>Cahier des charges</a:t>
            </a:r>
            <a:endParaRPr lang="en-US" sz="1300" dirty="0"/>
          </a:p>
          <a:p>
            <a:pPr marL="0" indent="0" algn="ctr">
              <a:lnSpc>
                <a:spcPct val="133000"/>
              </a:lnSpc>
              <a:buNone/>
            </a:pPr>
            <a:r>
              <a:rPr lang="en-US" sz="1300" dirty="0">
                <a:solidFill>
                  <a:srgbClr val="1E3A8A"/>
                </a:solidFill>
                <a:latin typeface="Open Sans" pitchFamily="34" charset="0"/>
                <a:ea typeface="Open Sans" pitchFamily="34" charset="-122"/>
                <a:cs typeface="Open Sans" pitchFamily="34" charset="-120"/>
              </a:rPr>
              <a:t>← Vous êtes ici</a:t>
            </a:r>
            <a:endParaRPr lang="en-US" sz="1300" dirty="0"/>
          </a:p>
        </p:txBody>
      </p:sp>
      <p:sp>
        <p:nvSpPr>
          <p:cNvPr id="16" name="Shape 14"/>
          <p:cNvSpPr/>
          <p:nvPr/>
        </p:nvSpPr>
        <p:spPr>
          <a:xfrm>
            <a:off x="7193775" y="2918023"/>
            <a:ext cx="19050" cy="496094"/>
          </a:xfrm>
          <a:prstGeom prst="roundRect">
            <a:avLst>
              <a:gd name="adj" fmla="val 49999"/>
            </a:avLst>
          </a:prstGeom>
          <a:solidFill>
            <a:srgbClr val="D1C8C6"/>
          </a:solidFill>
          <a:ln/>
        </p:spPr>
        <p:txBody>
          <a:bodyPr/>
          <a:lstStyle/>
          <a:p>
            <a:endParaRPr lang="fr-FR"/>
          </a:p>
        </p:txBody>
      </p:sp>
      <p:sp>
        <p:nvSpPr>
          <p:cNvPr id="17" name="Shape 15"/>
          <p:cNvSpPr/>
          <p:nvPr/>
        </p:nvSpPr>
        <p:spPr>
          <a:xfrm>
            <a:off x="7017269" y="3228082"/>
            <a:ext cx="372061" cy="372070"/>
          </a:xfrm>
          <a:prstGeom prst="roundRect">
            <a:avLst>
              <a:gd name="adj" fmla="val 18670"/>
            </a:avLst>
          </a:prstGeom>
          <a:solidFill>
            <a:srgbClr val="EBE2E0"/>
          </a:solidFill>
          <a:ln w="6350">
            <a:solidFill>
              <a:srgbClr val="D1C8C6"/>
            </a:solidFill>
            <a:prstDash val="solid"/>
          </a:ln>
        </p:spPr>
        <p:txBody>
          <a:bodyPr/>
          <a:lstStyle/>
          <a:p>
            <a:endParaRPr lang="fr-FR"/>
          </a:p>
        </p:txBody>
      </p:sp>
      <p:sp>
        <p:nvSpPr>
          <p:cNvPr id="18" name="Text 16"/>
          <p:cNvSpPr/>
          <p:nvPr/>
        </p:nvSpPr>
        <p:spPr>
          <a:xfrm>
            <a:off x="7079279" y="3259088"/>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443728"/>
                </a:solidFill>
                <a:latin typeface="Crimson Pro Bold" pitchFamily="34" charset="0"/>
                <a:ea typeface="Crimson Pro Bold" pitchFamily="34" charset="-122"/>
                <a:cs typeface="Crimson Pro Bold" pitchFamily="34" charset="-120"/>
              </a:rPr>
              <a:t>3</a:t>
            </a:r>
            <a:endParaRPr lang="en-US" sz="1950" dirty="0"/>
          </a:p>
        </p:txBody>
      </p:sp>
      <p:sp>
        <p:nvSpPr>
          <p:cNvPr id="19" name="Text 17"/>
          <p:cNvSpPr/>
          <p:nvPr/>
        </p:nvSpPr>
        <p:spPr>
          <a:xfrm>
            <a:off x="5256875" y="2130326"/>
            <a:ext cx="3892949" cy="258465"/>
          </a:xfrm>
          <a:prstGeom prst="rect">
            <a:avLst/>
          </a:prstGeom>
          <a:noFill/>
          <a:ln/>
        </p:spPr>
        <p:txBody>
          <a:bodyPr wrap="none" lIns="0" tIns="0" rIns="0" bIns="0" rtlCol="0" anchor="t"/>
          <a:lstStyle/>
          <a:p>
            <a:pPr marL="0" indent="0" algn="ctr">
              <a:lnSpc>
                <a:spcPct val="104000"/>
              </a:lnSpc>
              <a:buNone/>
            </a:pPr>
            <a:r>
              <a:rPr lang="en-US" sz="1600" b="1" dirty="0">
                <a:solidFill>
                  <a:srgbClr val="443728"/>
                </a:solidFill>
                <a:latin typeface="Crimson Pro Bold" pitchFamily="34" charset="0"/>
                <a:ea typeface="Crimson Pro Bold" pitchFamily="34" charset="-122"/>
                <a:cs typeface="Crimson Pro Bold" pitchFamily="34" charset="-120"/>
              </a:rPr>
              <a:t>R3 — 02/09</a:t>
            </a:r>
            <a:endParaRPr lang="en-US" sz="1600" dirty="0"/>
          </a:p>
        </p:txBody>
      </p:sp>
      <p:sp>
        <p:nvSpPr>
          <p:cNvPr id="20" name="Text 18"/>
          <p:cNvSpPr/>
          <p:nvPr/>
        </p:nvSpPr>
        <p:spPr>
          <a:xfrm>
            <a:off x="5256875" y="2488009"/>
            <a:ext cx="3892949" cy="264616"/>
          </a:xfrm>
          <a:prstGeom prst="rect">
            <a:avLst/>
          </a:prstGeom>
          <a:noFill/>
          <a:ln/>
        </p:spPr>
        <p:txBody>
          <a:bodyPr wrap="none" lIns="0" tIns="0" rIns="0" bIns="0" rtlCol="0" anchor="t"/>
          <a:lstStyle/>
          <a:p>
            <a:pPr marL="0" indent="0" algn="ctr">
              <a:lnSpc>
                <a:spcPct val="133000"/>
              </a:lnSpc>
              <a:buNone/>
            </a:pPr>
            <a:r>
              <a:rPr lang="en-US" sz="1300" dirty="0">
                <a:solidFill>
                  <a:srgbClr val="443728"/>
                </a:solidFill>
                <a:latin typeface="Open Sans" pitchFamily="34" charset="0"/>
                <a:ea typeface="Open Sans" pitchFamily="34" charset="-122"/>
                <a:cs typeface="Open Sans" pitchFamily="34" charset="-120"/>
              </a:rPr>
              <a:t>Presentation Cahier de </a:t>
            </a:r>
            <a:r>
              <a:rPr lang="en-US" sz="1300" dirty="0" err="1">
                <a:solidFill>
                  <a:srgbClr val="443728"/>
                </a:solidFill>
                <a:latin typeface="Open Sans" pitchFamily="34" charset="0"/>
                <a:ea typeface="Open Sans" pitchFamily="34" charset="-122"/>
                <a:cs typeface="Open Sans" pitchFamily="34" charset="-120"/>
              </a:rPr>
              <a:t>recette</a:t>
            </a:r>
            <a:r>
              <a:rPr lang="en-US" sz="1300" dirty="0">
                <a:solidFill>
                  <a:srgbClr val="443728"/>
                </a:solidFill>
                <a:latin typeface="Open Sans" pitchFamily="34" charset="0"/>
                <a:ea typeface="Open Sans" pitchFamily="34" charset="-122"/>
                <a:cs typeface="Open Sans" pitchFamily="34" charset="-120"/>
              </a:rPr>
              <a:t> &amp; </a:t>
            </a:r>
            <a:r>
              <a:rPr lang="en-US" sz="1300" dirty="0" err="1">
                <a:solidFill>
                  <a:srgbClr val="443728"/>
                </a:solidFill>
                <a:latin typeface="Open Sans" pitchFamily="34" charset="0"/>
                <a:ea typeface="Open Sans" pitchFamily="34" charset="-122"/>
                <a:cs typeface="Open Sans" pitchFamily="34" charset="-120"/>
              </a:rPr>
              <a:t>Démonstration</a:t>
            </a:r>
            <a:r>
              <a:rPr lang="en-US" sz="1300" dirty="0">
                <a:solidFill>
                  <a:srgbClr val="443728"/>
                </a:solidFill>
                <a:latin typeface="Open Sans" pitchFamily="34" charset="0"/>
                <a:ea typeface="Open Sans" pitchFamily="34" charset="-122"/>
                <a:cs typeface="Open Sans" pitchFamily="34" charset="-120"/>
              </a:rPr>
              <a:t> &amp; tests</a:t>
            </a:r>
            <a:endParaRPr lang="en-US" sz="1300" dirty="0"/>
          </a:p>
        </p:txBody>
      </p:sp>
      <p:sp>
        <p:nvSpPr>
          <p:cNvPr id="21" name="Shape 19"/>
          <p:cNvSpPr/>
          <p:nvPr/>
        </p:nvSpPr>
        <p:spPr>
          <a:xfrm>
            <a:off x="9408877" y="3414117"/>
            <a:ext cx="19050" cy="496094"/>
          </a:xfrm>
          <a:prstGeom prst="roundRect">
            <a:avLst>
              <a:gd name="adj" fmla="val 49999"/>
            </a:avLst>
          </a:prstGeom>
          <a:solidFill>
            <a:srgbClr val="D1C8C6"/>
          </a:solidFill>
          <a:ln/>
        </p:spPr>
        <p:txBody>
          <a:bodyPr/>
          <a:lstStyle/>
          <a:p>
            <a:endParaRPr lang="fr-FR"/>
          </a:p>
        </p:txBody>
      </p:sp>
      <p:sp>
        <p:nvSpPr>
          <p:cNvPr id="22" name="Shape 20"/>
          <p:cNvSpPr/>
          <p:nvPr/>
        </p:nvSpPr>
        <p:spPr>
          <a:xfrm>
            <a:off x="9232371" y="3228082"/>
            <a:ext cx="372061" cy="372070"/>
          </a:xfrm>
          <a:prstGeom prst="roundRect">
            <a:avLst>
              <a:gd name="adj" fmla="val 18670"/>
            </a:avLst>
          </a:prstGeom>
          <a:solidFill>
            <a:srgbClr val="EBE2E0"/>
          </a:solidFill>
          <a:ln w="6350">
            <a:solidFill>
              <a:srgbClr val="D1C8C6"/>
            </a:solidFill>
            <a:prstDash val="solid"/>
          </a:ln>
        </p:spPr>
        <p:txBody>
          <a:bodyPr/>
          <a:lstStyle/>
          <a:p>
            <a:endParaRPr lang="fr-FR"/>
          </a:p>
        </p:txBody>
      </p:sp>
      <p:sp>
        <p:nvSpPr>
          <p:cNvPr id="23" name="Text 21"/>
          <p:cNvSpPr/>
          <p:nvPr/>
        </p:nvSpPr>
        <p:spPr>
          <a:xfrm>
            <a:off x="9294382" y="3259088"/>
            <a:ext cx="248041" cy="310059"/>
          </a:xfrm>
          <a:prstGeom prst="rect">
            <a:avLst/>
          </a:prstGeom>
          <a:noFill/>
          <a:ln/>
        </p:spPr>
        <p:txBody>
          <a:bodyPr wrap="none" lIns="0" tIns="0" rIns="0" bIns="0" rtlCol="0" anchor="ctr"/>
          <a:lstStyle/>
          <a:p>
            <a:pPr marL="0" indent="0" algn="ctr">
              <a:lnSpc>
                <a:spcPct val="100000"/>
              </a:lnSpc>
              <a:buNone/>
            </a:pPr>
            <a:r>
              <a:rPr lang="en-US" sz="1950" b="1" dirty="0">
                <a:solidFill>
                  <a:srgbClr val="443728"/>
                </a:solidFill>
                <a:latin typeface="Crimson Pro Bold" pitchFamily="34" charset="0"/>
                <a:ea typeface="Crimson Pro Bold" pitchFamily="34" charset="-122"/>
                <a:cs typeface="Crimson Pro Bold" pitchFamily="34" charset="-120"/>
              </a:rPr>
              <a:t>4</a:t>
            </a:r>
            <a:endParaRPr lang="en-US" sz="1950" dirty="0"/>
          </a:p>
        </p:txBody>
      </p:sp>
      <p:sp>
        <p:nvSpPr>
          <p:cNvPr id="24" name="Text 22"/>
          <p:cNvSpPr/>
          <p:nvPr/>
        </p:nvSpPr>
        <p:spPr>
          <a:xfrm>
            <a:off x="7471977" y="4075609"/>
            <a:ext cx="3892949" cy="258465"/>
          </a:xfrm>
          <a:prstGeom prst="rect">
            <a:avLst/>
          </a:prstGeom>
          <a:noFill/>
          <a:ln/>
        </p:spPr>
        <p:txBody>
          <a:bodyPr wrap="none" lIns="0" tIns="0" rIns="0" bIns="0" rtlCol="0" anchor="t"/>
          <a:lstStyle/>
          <a:p>
            <a:pPr marL="0" indent="0" algn="ctr">
              <a:lnSpc>
                <a:spcPct val="104000"/>
              </a:lnSpc>
              <a:buNone/>
            </a:pPr>
            <a:r>
              <a:rPr lang="en-US" sz="1600" b="1" dirty="0">
                <a:solidFill>
                  <a:srgbClr val="443728"/>
                </a:solidFill>
                <a:latin typeface="Crimson Pro Bold" pitchFamily="34" charset="0"/>
                <a:ea typeface="Crimson Pro Bold" pitchFamily="34" charset="-122"/>
                <a:cs typeface="Crimson Pro Bold" pitchFamily="34" charset="-120"/>
              </a:rPr>
              <a:t>RF — 08/09</a:t>
            </a:r>
            <a:endParaRPr lang="en-US" sz="1600" dirty="0"/>
          </a:p>
        </p:txBody>
      </p:sp>
      <p:sp>
        <p:nvSpPr>
          <p:cNvPr id="25" name="Text 23"/>
          <p:cNvSpPr/>
          <p:nvPr/>
        </p:nvSpPr>
        <p:spPr>
          <a:xfrm>
            <a:off x="7471977" y="4433292"/>
            <a:ext cx="3892949" cy="264616"/>
          </a:xfrm>
          <a:prstGeom prst="rect">
            <a:avLst/>
          </a:prstGeom>
          <a:noFill/>
          <a:ln/>
        </p:spPr>
        <p:txBody>
          <a:bodyPr wrap="none" lIns="0" tIns="0" rIns="0" bIns="0" rtlCol="0" anchor="t"/>
          <a:lstStyle/>
          <a:p>
            <a:pPr marL="0" indent="0" algn="ctr">
              <a:lnSpc>
                <a:spcPct val="133000"/>
              </a:lnSpc>
              <a:buNone/>
            </a:pPr>
            <a:r>
              <a:rPr lang="en-US" sz="1300" dirty="0">
                <a:solidFill>
                  <a:srgbClr val="443728"/>
                </a:solidFill>
                <a:latin typeface="Open Sans" pitchFamily="34" charset="0"/>
                <a:ea typeface="Open Sans" pitchFamily="34" charset="-122"/>
                <a:cs typeface="Open Sans" pitchFamily="34" charset="-120"/>
              </a:rPr>
              <a:t>Rendu final</a:t>
            </a:r>
            <a:endParaRPr lang="en-US" sz="1300" dirty="0"/>
          </a:p>
        </p:txBody>
      </p:sp>
      <p:sp>
        <p:nvSpPr>
          <p:cNvPr id="26" name="Shape 24"/>
          <p:cNvSpPr/>
          <p:nvPr/>
        </p:nvSpPr>
        <p:spPr>
          <a:xfrm>
            <a:off x="661475" y="5148560"/>
            <a:ext cx="10868745" cy="661293"/>
          </a:xfrm>
          <a:prstGeom prst="roundRect">
            <a:avLst>
              <a:gd name="adj" fmla="val 10504"/>
            </a:avLst>
          </a:prstGeom>
          <a:solidFill>
            <a:srgbClr val="EBE2E0"/>
          </a:solidFill>
          <a:ln/>
        </p:spPr>
        <p:txBody>
          <a:bodyPr/>
          <a:lstStyle/>
          <a:p>
            <a:endParaRPr lang="fr-FR"/>
          </a:p>
        </p:txBody>
      </p:sp>
      <p:pic>
        <p:nvPicPr>
          <p:cNvPr id="27" name="Image 0" descr="preencoded.png"/>
          <p:cNvPicPr>
            <a:picLocks noChangeAspect="1"/>
          </p:cNvPicPr>
          <p:nvPr/>
        </p:nvPicPr>
        <p:blipFill>
          <a:blip r:embed="rId3"/>
          <a:stretch>
            <a:fillRect/>
          </a:stretch>
        </p:blipFill>
        <p:spPr>
          <a:xfrm>
            <a:off x="826769" y="5388273"/>
            <a:ext cx="206667" cy="165298"/>
          </a:xfrm>
          <a:prstGeom prst="rect">
            <a:avLst/>
          </a:prstGeom>
        </p:spPr>
      </p:pic>
      <p:sp>
        <p:nvSpPr>
          <p:cNvPr id="28" name="Text 25"/>
          <p:cNvSpPr/>
          <p:nvPr/>
        </p:nvSpPr>
        <p:spPr>
          <a:xfrm>
            <a:off x="1198731" y="5355134"/>
            <a:ext cx="1077578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Open Sans" pitchFamily="34" charset="0"/>
                <a:ea typeface="Open Sans" pitchFamily="34" charset="-122"/>
                <a:cs typeface="Open Sans" pitchFamily="34" charset="-120"/>
              </a:rPr>
              <a:t>Durée totale : 8 jours — Binôme Théo &amp; Maxence — Demandeur : Alpha</a:t>
            </a:r>
            <a:endParaRPr lang="en-US" sz="1300" dirty="0"/>
          </a:p>
        </p:txBody>
      </p:sp>
      <p:pic>
        <p:nvPicPr>
          <p:cNvPr id="29" name="Image 28">
            <a:extLst>
              <a:ext uri="{FF2B5EF4-FFF2-40B4-BE49-F238E27FC236}">
                <a16:creationId xmlns:a16="http://schemas.microsoft.com/office/drawing/2014/main" id="{5905C81E-C3DA-71F3-D6E8-AE50D7BA03A9}"/>
              </a:ext>
            </a:extLst>
          </p:cNvPr>
          <p:cNvPicPr>
            <a:picLocks noChangeAspect="1"/>
          </p:cNvPicPr>
          <p:nvPr/>
        </p:nvPicPr>
        <p:blipFill>
          <a:blip r:embed="rId4"/>
          <a:stretch>
            <a:fillRect/>
          </a:stretch>
        </p:blipFill>
        <p:spPr>
          <a:xfrm>
            <a:off x="10147300" y="6299200"/>
            <a:ext cx="2044700" cy="558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1145</Words>
  <Application>Microsoft Macintosh PowerPoint</Application>
  <PresentationFormat>Grand écran</PresentationFormat>
  <Paragraphs>154</Paragraphs>
  <Slides>10</Slides>
  <Notes>10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10</vt:i4>
      </vt:variant>
    </vt:vector>
  </HeadingPairs>
  <TitlesOfParts>
    <vt:vector size="15" baseType="lpstr">
      <vt:lpstr>Open Sans Bold</vt:lpstr>
      <vt:lpstr>Crimson Pro Bold</vt:lpstr>
      <vt:lpstr>Open Sans</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BTS CIEL 2027 TMAGNIN</cp:lastModifiedBy>
  <cp:revision>2</cp:revision>
  <dcterms:created xsi:type="dcterms:W3CDTF">2026-09-01T06:28:32Z</dcterms:created>
  <dcterms:modified xsi:type="dcterms:W3CDTF">2026-09-01T07:58:15Z</dcterms:modified>
</cp:coreProperties>
</file>